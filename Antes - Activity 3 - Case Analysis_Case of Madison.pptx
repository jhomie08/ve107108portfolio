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1.xml" ContentType="application/vnd.openxmlformats-officedocument.theme+xml"/>
  <Override PartName="/ppt/slideMasters/slideMaster1.xml" ContentType="application/vnd.openxmlformats-officedocument.presentationml.slideMaster+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package/2006/relationships/metadata/thumbnail" Target="docProps/thumbnail.jpeg"/></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60" r:id="rId1"/>
  </p:sldMasterIdLst>
  <p:notesMasterIdLst>
    <p:notesMasterId r:id="rId2"/>
  </p:notesMasterIdLst>
  <p:sldIdLst>
    <p:sldId id="256" r:id="rId4"/>
    <p:sldId id="257" r:id="rId5"/>
    <p:sldId id="258" r:id="rId6"/>
    <p:sldId id="259" r:id="rId7"/>
    <p:sldId id="260" r:id="rId8"/>
    <p:sldId id="261" r:id="rId9"/>
    <p:sldId id="262" r:id="rId10"/>
  </p:sldIdLst>
  <p:sldSz cx="12191695" cy="6858000"/>
  <p:notesSz cx="6857895" cy="9143861"/>
  <p:kinsoku lang="zh-CN" invalStChars="!%),.:;?]}¨·ˇˉ་―‖’”…‰∶、。〃々〉》」』】〕〗！＂＇％），．：；？］｀｜｝～￠" invalEndChars="([{·‘“〈《「『【〔〖（．［｛￡￥"/>
  <p:defaultTextStyle>
    <a:defPPr>
      <a:defRPr lang="zh-CN"/>
    </a:defPPr>
    <a:lvl1pPr marL="0" indent="0" algn="l" defTabSz="914400" eaLnBrk="1" fontAlgn="auto" latinLnBrk="0" hangingPunct="1">
      <a:buNone/>
      <a:defRPr sz="1800" kern="1200">
        <a:solidFill>
          <a:schemeClr val="tx1"/>
        </a:solidFill>
        <a:latin typeface="Droid Sans" pitchFamily="0" charset="0"/>
        <a:ea typeface="Droid Sans" pitchFamily="0" charset="0"/>
        <a:cs typeface="Droid Sans" pitchFamily="0" charset="0"/>
      </a:defRPr>
    </a:lvl1pPr>
    <a:lvl2pPr marL="457200" indent="0" algn="l" defTabSz="914400" eaLnBrk="1" fontAlgn="auto" latinLnBrk="0" hangingPunct="1">
      <a:buNone/>
      <a:defRPr sz="1800" kern="1200">
        <a:solidFill>
          <a:schemeClr val="tx1"/>
        </a:solidFill>
        <a:latin typeface="Droid Sans" pitchFamily="0" charset="0"/>
        <a:ea typeface="Droid Sans" pitchFamily="0" charset="0"/>
        <a:cs typeface="Droid Sans" pitchFamily="0" charset="0"/>
      </a:defRPr>
    </a:lvl2pPr>
    <a:lvl3pPr marL="914400" indent="0" algn="l" defTabSz="914400" eaLnBrk="1" fontAlgn="auto" latinLnBrk="0" hangingPunct="1">
      <a:buNone/>
      <a:defRPr sz="1800" kern="1200">
        <a:solidFill>
          <a:schemeClr val="tx1"/>
        </a:solidFill>
        <a:latin typeface="Droid Sans" pitchFamily="0" charset="0"/>
        <a:ea typeface="Droid Sans" pitchFamily="0" charset="0"/>
        <a:cs typeface="Droid Sans" pitchFamily="0" charset="0"/>
      </a:defRPr>
    </a:lvl3pPr>
    <a:lvl4pPr marL="1371600" indent="0" algn="l" defTabSz="914400" eaLnBrk="1" fontAlgn="auto" latinLnBrk="0" hangingPunct="1">
      <a:buNone/>
      <a:defRPr sz="1800" kern="1200">
        <a:solidFill>
          <a:schemeClr val="tx1"/>
        </a:solidFill>
        <a:latin typeface="Droid Sans" pitchFamily="0" charset="0"/>
        <a:ea typeface="Droid Sans" pitchFamily="0" charset="0"/>
        <a:cs typeface="Droid Sans" pitchFamily="0" charset="0"/>
      </a:defRPr>
    </a:lvl4pPr>
    <a:lvl5pPr marL="1828800" indent="0" algn="l" defTabSz="914400" eaLnBrk="1" fontAlgn="auto" latinLnBrk="0" hangingPunct="1">
      <a:buNone/>
      <a:defRPr sz="1800" kern="1200">
        <a:solidFill>
          <a:schemeClr val="tx1"/>
        </a:solidFill>
        <a:latin typeface="Droid Sans" pitchFamily="0" charset="0"/>
        <a:ea typeface="Droid Sans" pitchFamily="0" charset="0"/>
        <a:cs typeface="Droid Sans" pitchFamily="0" charset="0"/>
      </a:defRPr>
    </a:lvl5pPr>
    <a:lvl6pPr marL="2286000" indent="0" algn="l" defTabSz="914400" eaLnBrk="1" fontAlgn="auto" latinLnBrk="0" hangingPunct="1">
      <a:buNone/>
      <a:defRPr sz="1800" kern="1200">
        <a:solidFill>
          <a:schemeClr val="tx1"/>
        </a:solidFill>
        <a:latin typeface="Droid Sans" pitchFamily="0" charset="0"/>
        <a:ea typeface="Droid Sans" pitchFamily="0" charset="0"/>
        <a:cs typeface="Droid Sans" pitchFamily="0" charset="0"/>
      </a:defRPr>
    </a:lvl6pPr>
    <a:lvl7pPr marL="2743200" indent="0" algn="l" defTabSz="914400" eaLnBrk="1" fontAlgn="auto" latinLnBrk="0" hangingPunct="1">
      <a:buNone/>
      <a:defRPr sz="1800" kern="1200">
        <a:solidFill>
          <a:schemeClr val="tx1"/>
        </a:solidFill>
        <a:latin typeface="Droid Sans" pitchFamily="0" charset="0"/>
        <a:ea typeface="Droid Sans" pitchFamily="0" charset="0"/>
        <a:cs typeface="Droid Sans" pitchFamily="0" charset="0"/>
      </a:defRPr>
    </a:lvl7pPr>
    <a:lvl8pPr marL="3200400" indent="0" algn="l" defTabSz="914400" eaLnBrk="1" fontAlgn="auto" latinLnBrk="0" hangingPunct="1">
      <a:buNone/>
      <a:defRPr sz="1800" kern="1200">
        <a:solidFill>
          <a:schemeClr val="tx1"/>
        </a:solidFill>
        <a:latin typeface="Droid Sans" pitchFamily="0" charset="0"/>
        <a:ea typeface="Droid Sans" pitchFamily="0" charset="0"/>
        <a:cs typeface="Droid Sans" pitchFamily="0" charset="0"/>
      </a:defRPr>
    </a:lvl8pPr>
    <a:lvl9pPr marL="3200400" indent="0" algn="l" defTabSz="914400" eaLnBrk="1" fontAlgn="auto" latinLnBrk="0" hangingPunct="1">
      <a:buNone/>
      <a:defRPr sz="1800" kern="1200">
        <a:solidFill>
          <a:schemeClr val="tx1"/>
        </a:solidFill>
        <a:latin typeface="Droid Sans" pitchFamily="0" charset="0"/>
        <a:ea typeface="Droid Sans" pitchFamily="0" charset="0"/>
        <a:cs typeface="Droid Sans" pitchFamily="0" charset="0"/>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showNarration="1">
    <p:penClr>
      <a:srgbClr val="FF0000"/>
    </p:penClr>
    <p:extLst>
      <p:ext uri="{EC167BDD-8182-4AB7-AECC-EB403E3ABB37}">
        <p14:laserClr xmlns:p14="http://schemas.microsoft.com/office/powerpoint/2010/main">
          <a:srgbClr val="FF0000"/>
        </p14:laserClr>
      </p:ext>
    </p:extLst>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5611" autoAdjust="0"/>
    <p:restoredTop sz="99500" autoAdjust="0"/>
  </p:normalViewPr>
  <p:slideViewPr>
    <p:cSldViewPr snapToGrid="0" snapToObjects="1">
      <p:cViewPr>
        <p:scale>
          <a:sx n="95" d="100"/>
          <a:sy n="95" d="100"/>
        </p:scale>
        <p:origin x="0" y="0"/>
      </p:cViewPr>
      <p:guideLst/>
    </p:cSldViewPr>
  </p:slideViewPr>
  <p:outlineViewPr>
    <p:cViewPr>
      <p:scale>
        <a:sx n="33" d="100"/>
        <a:sy n="33" d="100"/>
      </p:scale>
      <p:origin x="0" y="0"/>
    </p:cViewPr>
    <p:sldLst/>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57" d="100"/>
          <a:sy n="57" d="100"/>
        </p:scale>
        <p:origin x="0" y="0"/>
      </p:cViewPr>
      <p:guideLst/>
    </p:cSldViewPr>
  </p:notesViewPr>
  <p:gridSpacing cx="72009" cy="72009"/>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&lt;#&gt;</a:t>
            </a:fld>
            <a:endParaRPr lang="zh-CN" altLang="en-US" sz="1200">
              <a:latin typeface="Aptos" pitchFamily="0" charset="0"/>
              <a:ea typeface="等线" pitchFamily="0" charset="0"/>
              <a:cs typeface="Aptos" pitchFamily="0" charset="0"/>
            </a:endParaRPr>
          </a:p>
        </p:txBody>
      </p:sp>
      <p:sp>
        <p:nvSpPr>
          <p:cNvPr id="3" name="Text box"/>
          <p:cNvSpPr>
            <a:spLocks noGrp="1"/>
          </p:cNvSpPr>
          <p:nvPr>
            <p:ph type="hdr"/>
          </p:nvPr>
        </p:nvSpPr>
        <p:spPr>
          <a:xfrm rot="0">
            <a:off x="0" y="0"/>
            <a:ext cx="2971799" cy="458787"/>
          </a:xfrm>
          <a:prstGeom prst="rect"/>
          <a:noFill/>
          <a:ln w="12700" cmpd="sng" cap="flat">
            <a:noFill/>
            <a:prstDash val="solid"/>
            <a:miter/>
          </a:ln>
        </p:spPr>
        <p:txBody>
          <a:bodyPr vert="horz" wrap="square" lIns="91440" tIns="45720" rIns="91440" bIns="45720" anchor="t" anchorCtr="0">
            <a:prstTxWarp prst="textNoShape"/>
          </a:bodyPr>
          <a:lstStyle/>
          <a:p>
            <a:pPr algn="l"/>
            <a:endParaRPr lang="zh-CN" altLang="en-US" sz="1200">
              <a:latin typeface="Aptos" pitchFamily="0" charset="0"/>
              <a:ea typeface="等线" pitchFamily="0" charset="0"/>
              <a:cs typeface="Aptos" pitchFamily="0" charset="0"/>
            </a:endParaRPr>
          </a:p>
        </p:txBody>
      </p:sp>
      <p:sp>
        <p:nvSpPr>
          <p:cNvPr id="4" name="Text box"/>
          <p:cNvSpPr>
            <a:spLocks noGrp="1"/>
          </p:cNvSpPr>
          <p:nvPr>
            <p:ph type="dt" idx="1"/>
          </p:nvPr>
        </p:nvSpPr>
        <p:spPr>
          <a:xfrm rot="0">
            <a:off x="3884613" y="0"/>
            <a:ext cx="2971800" cy="458787"/>
          </a:xfrm>
          <a:prstGeom prst="rect"/>
          <a:noFill/>
          <a:ln w="12700" cmpd="sng" cap="flat">
            <a:noFill/>
            <a:prstDash val="solid"/>
            <a:miter/>
          </a:ln>
        </p:spPr>
        <p:txBody>
          <a:bodyPr vert="horz" wrap="square" lIns="91440" tIns="45720" rIns="91440" bIns="45720" anchor="t" anchorCtr="0">
            <a:prstTxWarp prst="textNoShape"/>
          </a:bodyPr>
          <a:lstStyle/>
          <a:p>
            <a:pPr algn="r"/>
            <a:fld id="{CAD2D6BD-DE1B-4B5F-8B41-2702339687B9}" type="datetime1">
              <a:rPr lang="en-US" altLang="zh-CN" sz="1200">
                <a:latin typeface="Aptos" pitchFamily="0" charset="0"/>
                <a:ea typeface="等线" pitchFamily="0" charset="0"/>
                <a:cs typeface="Aptos" pitchFamily="0" charset="0"/>
              </a:rPr>
              <a:t>5/9/2026</a:t>
            </a:fld>
            <a:endParaRPr lang="zh-CN" altLang="en-US" sz="1200">
              <a:latin typeface="Aptos" pitchFamily="0" charset="0"/>
              <a:ea typeface="等线" pitchFamily="0" charset="0"/>
              <a:cs typeface="Aptos" pitchFamily="0" charset="0"/>
            </a:endParaRPr>
          </a:p>
        </p:txBody>
      </p:sp>
      <p:sp>
        <p:nvSpPr>
          <p:cNvPr id="5" name="Object"/>
          <p:cNvSpPr>
            <a:spLocks noGrp="1" noChangeAspect="1"/>
          </p:cNvSpPr>
          <p:nvPr>
            <p:ph type="sldImg" idx="2"/>
          </p:nvPr>
        </p:nvSpPr>
        <p:spPr>
          <a:xfrm rot="0">
            <a:off x="685800" y="1143000"/>
            <a:ext cx="5486400" cy="3086100"/>
          </a:xfrm>
          <a:prstGeom prst="rect"/>
          <a:noFill/>
          <a:ln w="12700" cmpd="sng" cap="flat">
            <a:solidFill>
              <a:srgbClr val="000000"/>
            </a:solidFill>
            <a:prstDash val="solid"/>
            <a:round/>
          </a:ln>
        </p:spPr>
      </p:sp>
      <p:sp>
        <p:nvSpPr>
          <p:cNvPr id="6" name="Text box"/>
          <p:cNvSpPr>
            <a:spLocks noGrp="1"/>
          </p:cNvSpPr>
          <p:nvPr>
            <p:ph type="body" idx="3"/>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7" name="Text box"/>
          <p:cNvSpPr>
            <a:spLocks noGrp="1"/>
          </p:cNvSpPr>
          <p:nvPr>
            <p:ph type="ftr" idx="4"/>
          </p:nvPr>
        </p:nvSpPr>
        <p:spPr>
          <a:xfrm rot="0">
            <a:off x="0" y="8685213"/>
            <a:ext cx="2971799" cy="458787"/>
          </a:xfrm>
          <a:prstGeom prst="rect"/>
          <a:noFill/>
          <a:ln w="12700" cmpd="sng" cap="flat">
            <a:noFill/>
            <a:prstDash val="solid"/>
            <a:miter/>
          </a:ln>
        </p:spPr>
        <p:txBody>
          <a:bodyPr vert="horz" wrap="square" lIns="91440" tIns="45720" rIns="91440" bIns="45720" anchor="b" anchorCtr="0">
            <a:prstTxWarp prst="textNoShape"/>
          </a:bodyPr>
          <a:lstStyle/>
          <a:p>
            <a:pPr algn="l"/>
            <a:endParaRPr lang="zh-CN" altLang="en-US" sz="1200">
              <a:latin typeface="Aptos" pitchFamily="0" charset="0"/>
              <a:ea typeface="等线" pitchFamily="0" charset="0"/>
              <a:cs typeface="Aptos" pitchFamily="0" charset="0"/>
            </a:endParaRPr>
          </a:p>
        </p:txBody>
      </p:sp>
    </p:spTree>
    <p:extLst>
      <p:ext uri="{BB962C8B-B14F-4D97-AF65-F5344CB8AC3E}">
        <p14:creationId xmlns:p14="http://schemas.microsoft.com/office/powerpoint/2010/main" val="578013594"/>
      </p:ext>
    </p:extLst>
  </p:cSld>
  <p:clrMap bg1="lt1" tx1="dk1" bg2="lt2" tx2="dk2" accent1="accent1" accent2="accent2" accent3="accent3" accent4="accent4" accent5="accent5" accent6="accent6" hlink="hlink" folHlink="folHlink"/>
  <p:hf sldNum="1" hdr="0" ftr="0" dt="0"/>
  <p:notesStyle>
    <a:lvl1pPr marL="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Aptos" pitchFamily="0" charset="0"/>
        <a:ea typeface="等线" pitchFamily="0" charset="0"/>
        <a:cs typeface="Aptos" pitchFamily="0" charset="0"/>
      </a:defRPr>
    </a:lvl1pPr>
    <a:lvl2pPr marL="457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Aptos" pitchFamily="0" charset="0"/>
        <a:ea typeface="等线" pitchFamily="0" charset="0"/>
        <a:cs typeface="Aptos" pitchFamily="0" charset="0"/>
      </a:defRPr>
    </a:lvl2pPr>
    <a:lvl3pPr marL="914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Aptos" pitchFamily="0" charset="0"/>
        <a:ea typeface="等线" pitchFamily="0" charset="0"/>
        <a:cs typeface="Aptos" pitchFamily="0" charset="0"/>
      </a:defRPr>
    </a:lvl3pPr>
    <a:lvl4pPr marL="13716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Aptos" pitchFamily="0" charset="0"/>
        <a:ea typeface="等线" pitchFamily="0" charset="0"/>
        <a:cs typeface="Aptos" pitchFamily="0" charset="0"/>
      </a:defRPr>
    </a:lvl4pPr>
    <a:lvl5pPr marL="18288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Aptos" pitchFamily="0" charset="0"/>
        <a:ea typeface="等线" pitchFamily="0" charset="0"/>
        <a:cs typeface="Aptos" pitchFamily="0" charset="0"/>
      </a:defRPr>
    </a:lvl5pPr>
    <a:lvl6pPr marL="22860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Aptos" pitchFamily="0" charset="0"/>
        <a:ea typeface="等线" pitchFamily="0" charset="0"/>
        <a:cs typeface="Aptos" pitchFamily="0" charset="0"/>
      </a:defRPr>
    </a:lvl6pPr>
    <a:lvl7pPr marL="2743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Aptos" pitchFamily="0" charset="0"/>
        <a:ea typeface="等线" pitchFamily="0" charset="0"/>
        <a:cs typeface="Aptos" pitchFamily="0" charset="0"/>
      </a:defRPr>
    </a:lvl7pPr>
    <a:lvl8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Aptos" pitchFamily="0" charset="0"/>
        <a:ea typeface="等线" pitchFamily="0" charset="0"/>
        <a:cs typeface="Aptos" pitchFamily="0" charset="0"/>
      </a:defRPr>
    </a:lvl8pPr>
    <a:lvl9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Aptos" pitchFamily="0" charset="0"/>
        <a:ea typeface="等线" pitchFamily="0" charset="0"/>
        <a:cs typeface="Aptos" pitchFamily="0" charset="0"/>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1</a:t>
            </a:fld>
            <a:endParaRPr lang="zh-CN" altLang="en-US" sz="1200">
              <a:latin typeface="Aptos" pitchFamily="0" charset="0"/>
              <a:ea typeface="等线" pitchFamily="0" charset="0"/>
              <a:cs typeface="Aptos" pitchFamily="0" charset="0"/>
            </a:endParaRPr>
          </a:p>
        </p:txBody>
      </p:sp>
      <p:sp>
        <p:nvSpPr>
          <p:cNvPr id="21" name="Object"/>
          <p:cNvSpPr>
            <a:spLocks noGrp="1" noChangeAspect="1"/>
          </p:cNvSpPr>
          <p:nvPr>
            <p:ph type="sldImg"/>
          </p:nvPr>
        </p:nvSpPr>
        <p:spPr>
          <a:xfrm rot="0">
            <a:off x="685800" y="1143000"/>
            <a:ext cx="5486400" cy="3086100"/>
          </a:xfrm>
          <a:prstGeom prst="rect"/>
          <a:noFill/>
          <a:ln w="12700" cmpd="sng" cap="flat">
            <a:noFill/>
            <a:prstDash val="solid"/>
            <a:miter/>
          </a:ln>
        </p:spPr>
      </p:sp>
      <p:sp>
        <p:nvSpPr>
          <p:cNvPr id="22"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23" name="Text box"/>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Droid Sans" pitchFamily="0" charset="0"/>
                <a:cs typeface="Lucida Sans"/>
              </a:rPr>
              <a:t>1</a:t>
            </a:fld>
            <a:endParaRPr lang="zh-CN" altLang="en-US"/>
          </a:p>
        </p:txBody>
      </p:sp>
    </p:spTree>
    <p:extLst>
      <p:ext uri="{BB962C8B-B14F-4D97-AF65-F5344CB8AC3E}">
        <p14:creationId xmlns:p14="http://schemas.microsoft.com/office/powerpoint/2010/main" val="1836498144"/>
      </p:ext>
    </p:extLst>
  </p:cSld>
  <p:clrMapOvr>
    <a:masterClrMapping/>
  </p:clrMapOvr>
</p:notes>
</file>

<file path=ppt/notesSlides/notesSlide2.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2</a:t>
            </a:fld>
            <a:endParaRPr lang="zh-CN" altLang="en-US" sz="1200">
              <a:latin typeface="Aptos" pitchFamily="0" charset="0"/>
              <a:ea typeface="等线" pitchFamily="0" charset="0"/>
              <a:cs typeface="Aptos" pitchFamily="0" charset="0"/>
            </a:endParaRPr>
          </a:p>
        </p:txBody>
      </p:sp>
      <p:sp>
        <p:nvSpPr>
          <p:cNvPr id="37" name="Object"/>
          <p:cNvSpPr>
            <a:spLocks noGrp="1" noChangeAspect="1"/>
          </p:cNvSpPr>
          <p:nvPr>
            <p:ph type="sldImg"/>
          </p:nvPr>
        </p:nvSpPr>
        <p:spPr>
          <a:xfrm rot="0">
            <a:off x="685800" y="1143000"/>
            <a:ext cx="5486400" cy="3086100"/>
          </a:xfrm>
          <a:prstGeom prst="rect"/>
          <a:noFill/>
          <a:ln w="12700" cmpd="sng" cap="flat">
            <a:noFill/>
            <a:prstDash val="solid"/>
            <a:miter/>
          </a:ln>
        </p:spPr>
      </p:sp>
      <p:sp>
        <p:nvSpPr>
          <p:cNvPr id="38"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39" name="Text box"/>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Droid Sans" pitchFamily="0" charset="0"/>
                <a:cs typeface="Lucida Sans"/>
              </a:rPr>
              <a:t>2</a:t>
            </a:fld>
            <a:endParaRPr lang="zh-CN" altLang="en-US"/>
          </a:p>
        </p:txBody>
      </p:sp>
    </p:spTree>
    <p:extLst>
      <p:ext uri="{BB962C8B-B14F-4D97-AF65-F5344CB8AC3E}">
        <p14:creationId xmlns:p14="http://schemas.microsoft.com/office/powerpoint/2010/main" val="1963197030"/>
      </p:ext>
    </p:extLst>
  </p:cSld>
  <p:clrMapOvr>
    <a:masterClrMapping/>
  </p:clrMapOvr>
</p:notes>
</file>

<file path=ppt/notesSlides/notesSlide3.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3</a:t>
            </a:fld>
            <a:endParaRPr lang="zh-CN" altLang="en-US" sz="1200">
              <a:latin typeface="Aptos" pitchFamily="0" charset="0"/>
              <a:ea typeface="等线" pitchFamily="0" charset="0"/>
              <a:cs typeface="Aptos" pitchFamily="0" charset="0"/>
            </a:endParaRPr>
          </a:p>
        </p:txBody>
      </p:sp>
      <p:sp>
        <p:nvSpPr>
          <p:cNvPr id="52" name="Object"/>
          <p:cNvSpPr>
            <a:spLocks noGrp="1" noChangeAspect="1"/>
          </p:cNvSpPr>
          <p:nvPr>
            <p:ph type="sldImg"/>
          </p:nvPr>
        </p:nvSpPr>
        <p:spPr>
          <a:xfrm rot="0">
            <a:off x="685800" y="1143000"/>
            <a:ext cx="5486400" cy="3086100"/>
          </a:xfrm>
          <a:prstGeom prst="rect"/>
          <a:noFill/>
          <a:ln w="12700" cmpd="sng" cap="flat">
            <a:noFill/>
            <a:prstDash val="solid"/>
            <a:miter/>
          </a:ln>
        </p:spPr>
      </p:sp>
      <p:sp>
        <p:nvSpPr>
          <p:cNvPr id="53"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54" name="Text box"/>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Droid Sans" pitchFamily="0" charset="0"/>
                <a:cs typeface="Lucida Sans"/>
              </a:rPr>
              <a:t>3</a:t>
            </a:fld>
            <a:endParaRPr lang="zh-CN" altLang="en-US"/>
          </a:p>
        </p:txBody>
      </p:sp>
    </p:spTree>
    <p:extLst>
      <p:ext uri="{BB962C8B-B14F-4D97-AF65-F5344CB8AC3E}">
        <p14:creationId xmlns:p14="http://schemas.microsoft.com/office/powerpoint/2010/main" val="108485278"/>
      </p:ext>
    </p:extLst>
  </p:cSld>
  <p:clrMapOvr>
    <a:masterClrMapping/>
  </p:clrMapOvr>
</p:notes>
</file>

<file path=ppt/notesSlides/notesSlide4.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4</a:t>
            </a:fld>
            <a:endParaRPr lang="zh-CN" altLang="en-US" sz="1200">
              <a:latin typeface="Aptos" pitchFamily="0" charset="0"/>
              <a:ea typeface="等线" pitchFamily="0" charset="0"/>
              <a:cs typeface="Aptos" pitchFamily="0" charset="0"/>
            </a:endParaRPr>
          </a:p>
        </p:txBody>
      </p:sp>
      <p:sp>
        <p:nvSpPr>
          <p:cNvPr id="99" name="Object"/>
          <p:cNvSpPr>
            <a:spLocks noGrp="1" noChangeAspect="1"/>
          </p:cNvSpPr>
          <p:nvPr>
            <p:ph type="sldImg"/>
          </p:nvPr>
        </p:nvSpPr>
        <p:spPr>
          <a:xfrm rot="0">
            <a:off x="685800" y="1143000"/>
            <a:ext cx="5486400" cy="3086100"/>
          </a:xfrm>
          <a:prstGeom prst="rect"/>
          <a:noFill/>
          <a:ln w="12700" cmpd="sng" cap="flat">
            <a:noFill/>
            <a:prstDash val="solid"/>
            <a:miter/>
          </a:ln>
        </p:spPr>
      </p:sp>
      <p:sp>
        <p:nvSpPr>
          <p:cNvPr id="100"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101" name="Text box"/>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Droid Sans" pitchFamily="0" charset="0"/>
                <a:cs typeface="Lucida Sans"/>
              </a:rPr>
              <a:t>4</a:t>
            </a:fld>
            <a:endParaRPr lang="zh-CN" altLang="en-US"/>
          </a:p>
        </p:txBody>
      </p:sp>
    </p:spTree>
    <p:extLst>
      <p:ext uri="{BB962C8B-B14F-4D97-AF65-F5344CB8AC3E}">
        <p14:creationId xmlns:p14="http://schemas.microsoft.com/office/powerpoint/2010/main" val="1626428591"/>
      </p:ext>
    </p:extLst>
  </p:cSld>
  <p:clrMapOvr>
    <a:masterClrMapping/>
  </p:clrMapOvr>
</p:notes>
</file>

<file path=ppt/notesSlides/notesSlide5.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5</a:t>
            </a:fld>
            <a:endParaRPr lang="zh-CN" altLang="en-US" sz="1200">
              <a:latin typeface="Aptos" pitchFamily="0" charset="0"/>
              <a:ea typeface="等线" pitchFamily="0" charset="0"/>
              <a:cs typeface="Aptos" pitchFamily="0" charset="0"/>
            </a:endParaRPr>
          </a:p>
        </p:txBody>
      </p:sp>
      <p:sp>
        <p:nvSpPr>
          <p:cNvPr id="113" name="Object"/>
          <p:cNvSpPr>
            <a:spLocks noGrp="1" noChangeAspect="1"/>
          </p:cNvSpPr>
          <p:nvPr>
            <p:ph type="sldImg"/>
          </p:nvPr>
        </p:nvSpPr>
        <p:spPr>
          <a:xfrm rot="0">
            <a:off x="685800" y="1143000"/>
            <a:ext cx="5486400" cy="3086100"/>
          </a:xfrm>
          <a:prstGeom prst="rect"/>
          <a:noFill/>
          <a:ln w="12700" cmpd="sng" cap="flat">
            <a:noFill/>
            <a:prstDash val="solid"/>
            <a:miter/>
          </a:ln>
        </p:spPr>
      </p:sp>
      <p:sp>
        <p:nvSpPr>
          <p:cNvPr id="114"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115" name="Text box"/>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Droid Sans" pitchFamily="0" charset="0"/>
                <a:cs typeface="Lucida Sans"/>
              </a:rPr>
              <a:t>5</a:t>
            </a:fld>
            <a:endParaRPr lang="zh-CN" altLang="en-US"/>
          </a:p>
        </p:txBody>
      </p:sp>
    </p:spTree>
    <p:extLst>
      <p:ext uri="{BB962C8B-B14F-4D97-AF65-F5344CB8AC3E}">
        <p14:creationId xmlns:p14="http://schemas.microsoft.com/office/powerpoint/2010/main" val="1973007136"/>
      </p:ext>
    </p:extLst>
  </p:cSld>
  <p:clrMapOvr>
    <a:masterClrMapping/>
  </p:clrMapOvr>
</p:notes>
</file>

<file path=ppt/notesSlides/notesSlide6.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6</a:t>
            </a:fld>
            <a:endParaRPr lang="zh-CN" altLang="en-US" sz="1200">
              <a:latin typeface="Aptos" pitchFamily="0" charset="0"/>
              <a:ea typeface="等线" pitchFamily="0" charset="0"/>
              <a:cs typeface="Aptos" pitchFamily="0" charset="0"/>
            </a:endParaRPr>
          </a:p>
        </p:txBody>
      </p:sp>
      <p:sp>
        <p:nvSpPr>
          <p:cNvPr id="132" name="Object"/>
          <p:cNvSpPr>
            <a:spLocks noGrp="1" noChangeAspect="1"/>
          </p:cNvSpPr>
          <p:nvPr>
            <p:ph type="sldImg"/>
          </p:nvPr>
        </p:nvSpPr>
        <p:spPr>
          <a:xfrm rot="0">
            <a:off x="685800" y="1143000"/>
            <a:ext cx="5486400" cy="3086100"/>
          </a:xfrm>
          <a:prstGeom prst="rect"/>
          <a:noFill/>
          <a:ln w="12700" cmpd="sng" cap="flat">
            <a:noFill/>
            <a:prstDash val="solid"/>
            <a:miter/>
          </a:ln>
        </p:spPr>
      </p:sp>
      <p:sp>
        <p:nvSpPr>
          <p:cNvPr id="133"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134" name="Text box"/>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Droid Sans" pitchFamily="0" charset="0"/>
                <a:cs typeface="Lucida Sans"/>
              </a:rPr>
              <a:t>6</a:t>
            </a:fld>
            <a:endParaRPr lang="zh-CN" altLang="en-US"/>
          </a:p>
        </p:txBody>
      </p:sp>
    </p:spTree>
    <p:extLst>
      <p:ext uri="{BB962C8B-B14F-4D97-AF65-F5344CB8AC3E}">
        <p14:creationId xmlns:p14="http://schemas.microsoft.com/office/powerpoint/2010/main" val="1338834542"/>
      </p:ext>
    </p:extLst>
  </p:cSld>
  <p:clrMapOvr>
    <a:masterClrMapping/>
  </p:clrMapOvr>
</p:notes>
</file>

<file path=ppt/notesSlides/notesSlide7.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7</a:t>
            </a:fld>
            <a:endParaRPr lang="zh-CN" altLang="en-US" sz="1200">
              <a:latin typeface="Aptos" pitchFamily="0" charset="0"/>
              <a:ea typeface="等线" pitchFamily="0" charset="0"/>
              <a:cs typeface="Aptos" pitchFamily="0" charset="0"/>
            </a:endParaRPr>
          </a:p>
        </p:txBody>
      </p:sp>
      <p:sp>
        <p:nvSpPr>
          <p:cNvPr id="146" name="Object"/>
          <p:cNvSpPr>
            <a:spLocks noGrp="1" noChangeAspect="1"/>
          </p:cNvSpPr>
          <p:nvPr>
            <p:ph type="sldImg"/>
          </p:nvPr>
        </p:nvSpPr>
        <p:spPr>
          <a:xfrm rot="0">
            <a:off x="685800" y="1143000"/>
            <a:ext cx="5486400" cy="3086100"/>
          </a:xfrm>
          <a:prstGeom prst="rect"/>
          <a:noFill/>
          <a:ln w="12700" cmpd="sng" cap="flat">
            <a:noFill/>
            <a:prstDash val="solid"/>
            <a:miter/>
          </a:ln>
        </p:spPr>
      </p:sp>
      <p:sp>
        <p:nvSpPr>
          <p:cNvPr id="147"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148" name="Text box"/>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Droid Sans" pitchFamily="0" charset="0"/>
                <a:cs typeface="Lucida Sans"/>
              </a:rPr>
              <a:t>7</a:t>
            </a:fld>
            <a:endParaRPr lang="zh-CN" altLang="en-US"/>
          </a:p>
        </p:txBody>
      </p:sp>
    </p:spTree>
    <p:extLst>
      <p:ext uri="{BB962C8B-B14F-4D97-AF65-F5344CB8AC3E}">
        <p14:creationId xmlns:p14="http://schemas.microsoft.com/office/powerpoint/2010/main" val="5424603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itle" preserve="1">
  <p:cSld name="标题幻灯片">
    <p:spTree>
      <p:nvGrpSpPr>
        <p:cNvPr id="1" name=""/>
        <p:cNvGrpSpPr/>
        <p:nvPr/>
      </p:nvGrpSpPr>
      <p:grpSpPr>
        <a:xfrm>
          <a:off x="0" y="0"/>
          <a:ext cx="0" cy="0"/>
          <a:chOff x="0" y="0"/>
          <a:chExt cx="0" cy="0"/>
        </a:xfrm>
      </p:grpSpPr>
      <p:sp>
        <p:nvSpPr>
          <p:cNvPr id="2" name="Text box"/>
          <p:cNvSpPr>
            <a:spLocks noGrp="1"/>
          </p:cNvSpPr>
          <p:nvPr>
            <p:ph type="ctrTitle"/>
          </p:nvPr>
        </p:nvSpPr>
        <p:spPr>
          <a:xfrm>
            <a:off x="914377" y="2130425"/>
            <a:ext cx="10362940" cy="1470025"/>
          </a:xfrm>
        </p:spPr>
        <p:txBody>
          <a:bodyPr/>
          <a:lstStyle/>
          <a:p>
            <a:r>
              <a:rPr lang="zh-CN" altLang="en-US" smtClean="0"/>
              <a:t>单击此处编辑母版标题样式</a:t>
            </a:r>
            <a:endParaRPr lang="zh-CN" altLang="en-US"/>
          </a:p>
        </p:txBody>
      </p:sp>
      <p:sp>
        <p:nvSpPr>
          <p:cNvPr id="3" name="Text box"/>
          <p:cNvSpPr>
            <a:spLocks noGrp="1"/>
          </p:cNvSpPr>
          <p:nvPr>
            <p:ph type="subTitle" idx="1"/>
          </p:nvPr>
        </p:nvSpPr>
        <p:spPr>
          <a:xfrm>
            <a:off x="1828754" y="3886199"/>
            <a:ext cx="8534186"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797415283"/>
      </p:ext>
    </p:extLst>
  </p:cSld>
  <p:clrMapOvr>
    <a:masterClrMapping/>
  </p:clrMapOvr>
</p:sldLayout>
</file>

<file path=ppt/slideLayouts/slideLayout2.xml><?xml version="1.0" encoding="utf-8"?>
<p:sldLayout xmlns:p="http://schemas.openxmlformats.org/presentationml/2006/main" xmlns:a="http://schemas.openxmlformats.org/drawingml/2006/main" xmlns:r="http://schemas.openxmlformats.org/officeDocument/2006/relationships" type="obj" preserve="1">
  <p:cSld name="标题和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763114513"/>
      </p:ext>
    </p:extLst>
  </p:cSld>
  <p:clrMapOvr>
    <a:masterClrMapping/>
  </p:clrMapOvr>
</p:sldLayout>
</file>

<file path=ppt/slideLayouts/slideLayout3.xml><?xml version="1.0" encoding="utf-8"?>
<p:sldLayout xmlns:p="http://schemas.openxmlformats.org/presentationml/2006/main" xmlns:a="http://schemas.openxmlformats.org/drawingml/2006/main" xmlns:r="http://schemas.openxmlformats.org/officeDocument/2006/relationships" type="secHead" preserve="1">
  <p:cSld name="节标题">
    <p:spTree>
      <p:nvGrpSpPr>
        <p:cNvPr id="1" name=""/>
        <p:cNvGrpSpPr/>
        <p:nvPr/>
      </p:nvGrpSpPr>
      <p:grpSpPr>
        <a:xfrm>
          <a:off x="0" y="0"/>
          <a:ext cx="0" cy="0"/>
          <a:chOff x="0" y="0"/>
          <a:chExt cx="0" cy="0"/>
        </a:xfrm>
      </p:grpSpPr>
      <p:sp>
        <p:nvSpPr>
          <p:cNvPr id="2" name="Text box"/>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Text box"/>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6"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709676446"/>
      </p:ext>
    </p:extLst>
  </p:cSld>
  <p:clrMapOvr>
    <a:masterClrMapping/>
  </p:clrMapOvr>
</p:sldLayout>
</file>

<file path=ppt/slideLayouts/slideLayout4.xml><?xml version="1.0" encoding="utf-8"?>
<p:sldLayout xmlns:p="http://schemas.openxmlformats.org/presentationml/2006/main" xmlns:a="http://schemas.openxmlformats.org/drawingml/2006/main" xmlns:r="http://schemas.openxmlformats.org/officeDocument/2006/relationships" type="twoObj" preserve="1">
  <p:cSld name="两栏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263166819"/>
      </p:ext>
    </p:extLst>
  </p:cSld>
  <p:clrMapOvr>
    <a:masterClrMapping/>
  </p:clrMapOvr>
</p:sldLayout>
</file>

<file path=ppt/slideLayouts/slideLayout5.xml><?xml version="1.0" encoding="utf-8"?>
<p:sldLayout xmlns:p="http://schemas.openxmlformats.org/presentationml/2006/main" xmlns:a="http://schemas.openxmlformats.org/drawingml/2006/main" xmlns:r="http://schemas.openxmlformats.org/officeDocument/2006/relationships" type="twoTxTwoObj" preserve="1">
  <p:cSld name="比较">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Text box"/>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Text box"/>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Text box"/>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Text box"/>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9"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274123837"/>
      </p:ext>
    </p:extLst>
  </p:cSld>
  <p:clrMapOvr>
    <a:masterClrMapping/>
  </p:clrMapOvr>
</p:sldLayout>
</file>

<file path=ppt/slideLayouts/slideLayout6.xml><?xml version="1.0" encoding="utf-8"?>
<p:sldLayout xmlns:p="http://schemas.openxmlformats.org/presentationml/2006/main" xmlns:a="http://schemas.openxmlformats.org/drawingml/2006/main" xmlns:r="http://schemas.openxmlformats.org/officeDocument/2006/relationships" type="titleOnly" preserve="1">
  <p:cSld name="仅标题">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5"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935927682"/>
      </p:ext>
    </p:extLst>
  </p:cSld>
  <p:clrMapOvr>
    <a:masterClrMapping/>
  </p:clrMapOvr>
</p:sldLayout>
</file>

<file path=ppt/slideLayouts/slideLayout7.xml><?xml version="1.0" encoding="utf-8"?>
<p:sldLayout xmlns:p="http://schemas.openxmlformats.org/presentationml/2006/main" xmlns:a="http://schemas.openxmlformats.org/drawingml/2006/main" xmlns:r="http://schemas.openxmlformats.org/officeDocument/2006/relationships" type="blank" preserve="1">
  <p:cSld name="空白">
    <p:spTree>
      <p:nvGrpSpPr>
        <p:cNvPr id="1" name=""/>
        <p:cNvGrpSpPr/>
        <p:nvPr/>
      </p:nvGrpSpPr>
      <p:grpSpPr>
        <a:xfrm>
          <a:off x="0" y="0"/>
          <a:ext cx="0" cy="0"/>
          <a:chOff x="0" y="0"/>
          <a:chExt cx="0" cy="0"/>
        </a:xfrm>
      </p:grpSpPr>
      <p:sp>
        <p:nvSpPr>
          <p:cNvPr id="4"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725597835"/>
      </p:ext>
    </p:extLst>
  </p:cSld>
  <p:clrMapOvr>
    <a:masterClrMapping/>
  </p:clrMapOvr>
</p:sldLayout>
</file>

<file path=ppt/slideLayouts/slideLayout8.xml><?xml version="1.0" encoding="utf-8"?>
<p:sldLayout xmlns:p="http://schemas.openxmlformats.org/presentationml/2006/main" xmlns:a="http://schemas.openxmlformats.org/drawingml/2006/main" xmlns:r="http://schemas.openxmlformats.org/officeDocument/2006/relationships" type="objTx" preserve="1">
  <p:cSld name="内容与标题">
    <p:spTree>
      <p:nvGrpSpPr>
        <p:cNvPr id="1" name=""/>
        <p:cNvGrpSpPr/>
        <p:nvPr/>
      </p:nvGrpSpPr>
      <p:grpSpPr>
        <a:xfrm>
          <a:off x="0" y="0"/>
          <a:ext cx="0" cy="0"/>
          <a:chOff x="0" y="0"/>
          <a:chExt cx="0" cy="0"/>
        </a:xfrm>
      </p:grpSpPr>
      <p:sp>
        <p:nvSpPr>
          <p:cNvPr id="2" name="Text box"/>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Text box"/>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7"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2121534574"/>
      </p:ext>
    </p:extLst>
  </p:cSld>
  <p:clrMapOvr>
    <a:masterClrMapping/>
  </p:clrMapOvr>
</p:sldLayout>
</file>

<file path=ppt/slideLayouts/slideLayout9.xml><?xml version="1.0" encoding="utf-8"?>
<p:sldLayout xmlns:p="http://schemas.openxmlformats.org/presentationml/2006/main" xmlns:a="http://schemas.openxmlformats.org/drawingml/2006/main" xmlns:r="http://schemas.openxmlformats.org/officeDocument/2006/relationships" type="picTx" preserve="1">
  <p:cSld name="图片与标题">
    <p:spTree>
      <p:nvGrpSpPr>
        <p:cNvPr id="1" name=""/>
        <p:cNvGrpSpPr/>
        <p:nvPr/>
      </p:nvGrpSpPr>
      <p:grpSpPr>
        <a:xfrm>
          <a:off x="0" y="0"/>
          <a:ext cx="0" cy="0"/>
          <a:chOff x="0" y="0"/>
          <a:chExt cx="0" cy="0"/>
        </a:xfrm>
      </p:grpSpPr>
      <p:sp>
        <p:nvSpPr>
          <p:cNvPr id="2" name="Text box"/>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Text box"/>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box"/>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7"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973028682"/>
      </p:ext>
    </p:extLst>
  </p:cSld>
  <p:clrMapOvr>
    <a:masterClrMapping/>
  </p:clrMapOvr>
</p:sldLayout>
</file>

<file path=ppt/slideLayouts/slideLayout10.xml><?xml version="1.0" encoding="utf-8"?>
<p:sldLayout xmlns:p="http://schemas.openxmlformats.org/presentationml/2006/main" xmlns:a="http://schemas.openxmlformats.org/drawingml/2006/main" xmlns:r="http://schemas.openxmlformats.org/officeDocument/2006/relationships" type="vertTx" preserve="1">
  <p:cSld name="标题和竖排文本">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835584167"/>
      </p:ext>
    </p:extLst>
  </p:cSld>
  <p:clrMapOvr>
    <a:masterClrMapping/>
  </p:clrMapOvr>
</p:sldLayout>
</file>

<file path=ppt/slideLayouts/slideLayout11.xml><?xml version="1.0" encoding="utf-8"?>
<p:sldLayout xmlns:p="http://schemas.openxmlformats.org/presentationml/2006/main" xmlns:a="http://schemas.openxmlformats.org/drawingml/2006/main" xmlns:r="http://schemas.openxmlformats.org/officeDocument/2006/relationships" type="vertTitleAndTx" preserve="1">
  <p:cSld name="垂直排列标题与文本">
    <p:spTree>
      <p:nvGrpSpPr>
        <p:cNvPr id="1" name=""/>
        <p:cNvGrpSpPr/>
        <p:nvPr/>
      </p:nvGrpSpPr>
      <p:grpSpPr>
        <a:xfrm>
          <a:off x="0" y="0"/>
          <a:ext cx="0" cy="0"/>
          <a:chOff x="0" y="0"/>
          <a:chExt cx="0" cy="0"/>
        </a:xfrm>
      </p:grpSpPr>
      <p:sp>
        <p:nvSpPr>
          <p:cNvPr id="2" name="Text box"/>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Text box"/>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874413057"/>
      </p:ext>
    </p:extLst>
  </p:cSld>
  <p:clrMapOvr>
    <a:masterClrMapping/>
  </p:clrMapOvr>
</p:sldLayout>
</file>

<file path=ppt/slideLayouts/slideLayout12.xml><?xml version="1.0" encoding="utf-8"?>
<p:sldLayout xmlns:p="http://schemas.openxmlformats.org/presentationml/2006/main" xmlns:a="http://schemas.openxmlformats.org/drawingml/2006/main" xmlns:r="http://schemas.openxmlformats.org/officeDocument/2006/relationships" showMasterSp="0" preserve="1">
  <p:cSld name="自定义版式">
    <p:bg>
      <p:bgPr>
        <a:solidFill>
          <a:srgbClr val="F8F2E7"/>
        </a:solidFill>
      </p:bgPr>
    </p:bg>
    <p:spTree>
      <p:nvGrpSpPr>
        <p:cNvPr id="1" name=""/>
        <p:cNvGrpSpPr/>
        <p:nvPr/>
      </p:nvGrpSpPr>
      <p:grpSpPr>
        <a:xfrm>
          <a:off x="0" y="0"/>
          <a:ext cx="0" cy="0"/>
          <a:chOff x="0" y="0"/>
          <a:chExt cx="0" cy="0"/>
        </a:xfrm>
      </p:grpSpPr>
      <p:sp>
        <p:nvSpPr>
          <p:cNvPr id="9" name="Straight line"/>
          <p:cNvSpPr>
            <a:spLocks/>
          </p:cNvSpPr>
          <p:nvPr/>
        </p:nvSpPr>
        <p:spPr>
          <a:xfrm rot="0">
            <a:off x="502919" y="6355080"/>
            <a:ext cx="11201399" cy="0"/>
          </a:xfrm>
          <a:prstGeom prst="line"/>
          <a:noFill/>
          <a:ln w="12700" cmpd="sng" cap="flat">
            <a:solidFill>
              <a:srgbClr val="D8A15D"/>
            </a:solidFill>
            <a:prstDash val="solid"/>
            <a:round/>
          </a:ln>
        </p:spPr>
      </p:sp>
      <p:sp>
        <p:nvSpPr>
          <p:cNvPr id="10" name="Rectangles"/>
          <p:cNvSpPr>
            <a:spLocks/>
          </p:cNvSpPr>
          <p:nvPr/>
        </p:nvSpPr>
        <p:spPr>
          <a:xfrm rot="0">
            <a:off x="548640" y="6428232"/>
            <a:ext cx="4572000" cy="201167"/>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750" b="0" i="0" u="none" strike="noStrike" kern="1200" cap="none" spc="0" baseline="0">
                <a:solidFill>
                  <a:srgbClr val="80613D"/>
                </a:solidFill>
                <a:latin typeface="Aptos" pitchFamily="0" charset="0"/>
                <a:ea typeface="Aptos" pitchFamily="0" charset="0"/>
                <a:cs typeface="Aptos" pitchFamily="0" charset="0"/>
              </a:rPr>
              <a:t>Activity 3 • Case Analysis</a:t>
            </a:r>
            <a:endParaRPr lang="zh-CN" altLang="en-US" sz="750" b="0" i="0" u="none" strike="noStrike" kern="1200" cap="none" spc="0" baseline="0">
              <a:solidFill>
                <a:schemeClr val="tx1"/>
              </a:solidFill>
              <a:latin typeface="Aptos" pitchFamily="0" charset="0"/>
              <a:ea typeface="等线" pitchFamily="0" charset="0"/>
              <a:cs typeface="Aptos" pitchFamily="0" charset="0"/>
            </a:endParaRPr>
          </a:p>
        </p:txBody>
      </p:sp>
      <p:sp>
        <p:nvSpPr>
          <p:cNvPr id="11" name="Text box"/>
          <p:cNvSpPr>
            <a:spLocks noGrp="1"/>
          </p:cNvSpPr>
          <p:nvPr>
            <p:ph type="sldNum"/>
          </p:nvPr>
        </p:nvSpPr>
        <p:spPr>
          <a:xfrm rot="0">
            <a:off x="11064240" y="6419087"/>
            <a:ext cx="548639" cy="228600"/>
          </a:xfrm>
          <a:prstGeom prst="rect"/>
          <a:noFill/>
          <a:ln w="12700" cmpd="sng" cap="flat">
            <a:noFill/>
            <a:prstDash val="solid"/>
            <a:miter/>
          </a:ln>
        </p:spPr>
        <p:txBody>
          <a:bodyPr vert="horz" wrap="square" lIns="91440" tIns="45720" rIns="91440" bIns="45720" anchor="t" anchorCtr="0">
            <a:prstTxWarp prst="textNoShape"/>
          </a:bodyPr>
          <a:lstStyle/>
          <a:p>
            <a:pPr algn="l"/>
            <a:fld id="{CAD2D6BD-DE1B-4B5F-8B41-2702339687B9}" type="slidenum">
              <a:rPr lang="en-US" altLang="zh-CN" sz="750" b="0" i="0" u="none" strike="noStrike" kern="1200" cap="none" spc="0" baseline="0">
                <a:solidFill>
                  <a:srgbClr val="80613D"/>
                </a:solidFill>
                <a:latin typeface="Aptos" pitchFamily="0" charset="0"/>
                <a:ea typeface="Aptos" pitchFamily="0" charset="0"/>
                <a:cs typeface="Aptos" pitchFamily="0" charset="0"/>
              </a:rPr>
              <a:t>&lt;#&gt;</a:t>
            </a:fld>
            <a:endParaRPr lang="zh-CN" altLang="en-US" sz="750">
              <a:solidFill>
                <a:srgbClr val="80613D"/>
              </a:solidFill>
              <a:latin typeface="Aptos" pitchFamily="0" charset="0"/>
              <a:ea typeface="Aptos" pitchFamily="0" charset="0"/>
              <a:cs typeface="Aptos" pitchFamily="0" charset="0"/>
            </a:endParaRPr>
          </a:p>
        </p:txBody>
      </p:sp>
    </p:spTree>
    <p:extLst>
      <p:ext uri="{BB962C8B-B14F-4D97-AF65-F5344CB8AC3E}">
        <p14:creationId xmlns:p14="http://schemas.microsoft.com/office/powerpoint/2010/main" val="463351480"/>
      </p:ext>
    </p:extLst>
  </p:cSld>
  <p:clrMapOvr>
    <a:masterClrMapping/>
  </p:clrMapOvr>
  <p:hf sldNum="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Num"/>
          </p:nvPr>
        </p:nvSpPr>
        <p:spPr>
          <a:xfrm rot="0">
            <a:off x="11064240" y="6419087"/>
            <a:ext cx="548639" cy="228600"/>
          </a:xfrm>
          <a:prstGeom prst="rect"/>
          <a:noFill/>
          <a:ln w="12700" cmpd="sng" cap="flat">
            <a:noFill/>
            <a:prstDash val="solid"/>
            <a:miter/>
          </a:ln>
        </p:spPr>
        <p:txBody>
          <a:bodyPr vert="horz" wrap="square" lIns="91440" tIns="45720" rIns="91440" bIns="45720" anchor="t" anchorCtr="0">
            <a:prstTxWarp prst="textNoShape"/>
          </a:bodyPr>
          <a:lstStyle/>
          <a:p>
            <a:pPr algn="l"/>
            <a:fld id="{CAD2D6BD-DE1B-4B5F-8B41-2702339687B9}" type="slidenum">
              <a:rPr lang="en-US" altLang="zh-CN" sz="750" b="0" i="0" u="none" strike="noStrike" kern="1200" cap="none" spc="0" baseline="0">
                <a:solidFill>
                  <a:srgbClr val="80613D"/>
                </a:solidFill>
                <a:latin typeface="Aptos" pitchFamily="0" charset="0"/>
                <a:ea typeface="Aptos" pitchFamily="0" charset="0"/>
                <a:cs typeface="Aptos" pitchFamily="0" charset="0"/>
              </a:rPr>
              <a:t>&lt;#&gt;</a:t>
            </a:fld>
            <a:endParaRPr lang="zh-CN" altLang="en-US" sz="750">
              <a:solidFill>
                <a:srgbClr val="80613D"/>
              </a:solidFill>
              <a:latin typeface="Aptos" pitchFamily="0" charset="0"/>
              <a:ea typeface="Aptos" pitchFamily="0" charset="0"/>
              <a:cs typeface="Aptos" pitchFamily="0" charset="0"/>
            </a:endParaRPr>
          </a:p>
        </p:txBody>
      </p:sp>
    </p:spTree>
    <p:extLst>
      <p:ext uri="{BB962C8B-B14F-4D97-AF65-F5344CB8AC3E}">
        <p14:creationId xmlns:p14="http://schemas.microsoft.com/office/powerpoint/2010/main" val="532198352"/>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lvl1pPr algn="ctr" defTabSz="914400" eaLnBrk="1" fontAlgn="auto" latinLnBrk="0" hangingPunct="1">
        <a:spcBef>
          <a:spcPts val="0"/>
        </a:spcBef>
        <a:buNone/>
        <a:defRPr sz="4400" kern="1200">
          <a:solidFill>
            <a:schemeClr val="tx1"/>
          </a:solidFill>
          <a:latin typeface="Aptos Display" pitchFamily="0" charset="0"/>
          <a:ea typeface="等线 Light" pitchFamily="0" charset="0"/>
          <a:cs typeface="Aptos Display" pitchFamily="0" charset="0"/>
        </a:defRPr>
      </a:lvl1pPr>
    </p:titleStyle>
    <p:bodyStyle>
      <a:lvl1pPr marL="342900" indent="-342900" algn="l" defTabSz="914400" eaLnBrk="1" fontAlgn="auto" latinLnBrk="0" hangingPunct="1">
        <a:spcBef>
          <a:spcPct val="20000"/>
        </a:spcBef>
        <a:buFont typeface="Arial" pitchFamily="34" charset="0"/>
        <a:buChar char="•"/>
        <a:defRPr sz="3200" kern="1200">
          <a:solidFill>
            <a:schemeClr val="tx1"/>
          </a:solidFill>
          <a:latin typeface="Aptos" pitchFamily="0" charset="0"/>
          <a:ea typeface="等线" pitchFamily="0" charset="0"/>
          <a:cs typeface="Aptos" pitchFamily="0" charset="0"/>
        </a:defRPr>
      </a:lvl1pPr>
      <a:lvl2pPr marL="742950" indent="-285750" algn="l" defTabSz="914400" eaLnBrk="1" fontAlgn="auto" latinLnBrk="0" hangingPunct="1">
        <a:spcBef>
          <a:spcPct val="20000"/>
        </a:spcBef>
        <a:buFont typeface="Arial" pitchFamily="34" charset="0"/>
        <a:buChar char="–"/>
        <a:defRPr sz="2800" kern="1200">
          <a:solidFill>
            <a:schemeClr val="tx1"/>
          </a:solidFill>
          <a:latin typeface="Aptos" pitchFamily="0" charset="0"/>
          <a:ea typeface="等线" pitchFamily="0" charset="0"/>
          <a:cs typeface="Aptos" pitchFamily="0" charset="0"/>
        </a:defRPr>
      </a:lvl2pPr>
      <a:lvl3pPr marL="1143000" indent="-228600" algn="l" defTabSz="914400" eaLnBrk="1" fontAlgn="auto" latinLnBrk="0" hangingPunct="1">
        <a:spcBef>
          <a:spcPct val="20000"/>
        </a:spcBef>
        <a:buFont typeface="Arial" pitchFamily="34" charset="0"/>
        <a:buChar char="•"/>
        <a:defRPr sz="2400" kern="1200">
          <a:solidFill>
            <a:schemeClr val="tx1"/>
          </a:solidFill>
          <a:latin typeface="Aptos" pitchFamily="0" charset="0"/>
          <a:ea typeface="等线" pitchFamily="0" charset="0"/>
          <a:cs typeface="Aptos" pitchFamily="0" charset="0"/>
        </a:defRPr>
      </a:lvl3pPr>
      <a:lvl4pPr marL="1600200" indent="-228600" algn="l" defTabSz="914400" eaLnBrk="1" fontAlgn="auto" latinLnBrk="0" hangingPunct="1">
        <a:spcBef>
          <a:spcPct val="20000"/>
        </a:spcBef>
        <a:buFont typeface="Arial" pitchFamily="34" charset="0"/>
        <a:buChar char="–"/>
        <a:defRPr sz="2000" kern="1200">
          <a:solidFill>
            <a:schemeClr val="tx1"/>
          </a:solidFill>
          <a:latin typeface="Aptos" pitchFamily="0" charset="0"/>
          <a:ea typeface="等线" pitchFamily="0" charset="0"/>
          <a:cs typeface="Aptos" pitchFamily="0" charset="0"/>
        </a:defRPr>
      </a:lvl4pPr>
      <a:lvl5pPr marL="2057400" indent="-228600" algn="l" defTabSz="914400" eaLnBrk="1" fontAlgn="auto" latinLnBrk="0" hangingPunct="1">
        <a:spcBef>
          <a:spcPct val="20000"/>
        </a:spcBef>
        <a:buFont typeface="Arial" pitchFamily="34" charset="0"/>
        <a:buChar char="»"/>
        <a:defRPr sz="2000" kern="1200">
          <a:solidFill>
            <a:schemeClr val="tx1"/>
          </a:solidFill>
          <a:latin typeface="Aptos" pitchFamily="0" charset="0"/>
          <a:ea typeface="等线" pitchFamily="0" charset="0"/>
          <a:cs typeface="Aptos" pitchFamily="0" charset="0"/>
        </a:defRPr>
      </a:lvl5pPr>
      <a:lvl6pPr marL="2514600" indent="-228600" algn="l" defTabSz="914400" eaLnBrk="1" fontAlgn="auto" latinLnBrk="0" hangingPunct="1">
        <a:spcBef>
          <a:spcPct val="20000"/>
        </a:spcBef>
        <a:buFont typeface="Arial" pitchFamily="34" charset="0"/>
        <a:buChar char="•"/>
        <a:defRPr sz="2000" kern="1200">
          <a:solidFill>
            <a:schemeClr val="tx1"/>
          </a:solidFill>
          <a:latin typeface="Aptos" pitchFamily="0" charset="0"/>
          <a:ea typeface="等线" pitchFamily="0" charset="0"/>
          <a:cs typeface="Aptos" pitchFamily="0" charset="0"/>
        </a:defRPr>
      </a:lvl6pPr>
      <a:lvl7pPr marL="2971800" indent="-228600" algn="l" defTabSz="914400" eaLnBrk="1" fontAlgn="auto" latinLnBrk="0" hangingPunct="1">
        <a:spcBef>
          <a:spcPct val="20000"/>
        </a:spcBef>
        <a:buFont typeface="Arial" pitchFamily="34" charset="0"/>
        <a:buChar char="•"/>
        <a:defRPr sz="2000" kern="1200">
          <a:solidFill>
            <a:schemeClr val="tx1"/>
          </a:solidFill>
          <a:latin typeface="Aptos" pitchFamily="0" charset="0"/>
          <a:ea typeface="等线" pitchFamily="0" charset="0"/>
          <a:cs typeface="Aptos" pitchFamily="0" charset="0"/>
        </a:defRPr>
      </a:lvl7pPr>
      <a:lvl8pPr marL="3429000" indent="-228600" algn="l" defTabSz="914400" eaLnBrk="1" fontAlgn="auto" latinLnBrk="0" hangingPunct="1">
        <a:spcBef>
          <a:spcPct val="20000"/>
        </a:spcBef>
        <a:buFont typeface="Arial" pitchFamily="34" charset="0"/>
        <a:buChar char="•"/>
        <a:defRPr sz="2000" kern="1200">
          <a:solidFill>
            <a:schemeClr val="tx1"/>
          </a:solidFill>
          <a:latin typeface="Aptos" pitchFamily="0" charset="0"/>
          <a:ea typeface="等线" pitchFamily="0" charset="0"/>
          <a:cs typeface="Aptos" pitchFamily="0" charset="0"/>
        </a:defRPr>
      </a:lvl8pPr>
      <a:lvl9pPr marL="3429000" indent="-228600" algn="l" defTabSz="914400" eaLnBrk="1" fontAlgn="auto" latinLnBrk="0" hangingPunct="1">
        <a:spcBef>
          <a:spcPct val="20000"/>
        </a:spcBef>
        <a:buFont typeface="Arial" pitchFamily="34" charset="0"/>
        <a:buChar char="•"/>
        <a:defRPr sz="2000" kern="1200">
          <a:solidFill>
            <a:schemeClr val="tx1"/>
          </a:solidFill>
          <a:latin typeface="Aptos" pitchFamily="0" charset="0"/>
          <a:ea typeface="等线" pitchFamily="0" charset="0"/>
          <a:cs typeface="Aptos" pitchFamily="0" charset="0"/>
        </a:defRPr>
      </a:lvl9pPr>
    </p:body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slide1.xml><?xml version="1.0" encoding="utf-8"?>
<p:sld xmlns:p="http://schemas.openxmlformats.org/presentationml/2006/main" xmlns:r="http://schemas.openxmlformats.org/officeDocument/2006/relationships" xmlns:a="http://schemas.openxmlformats.org/drawingml/2006/main">
  <p:cSld>
    <p:bg>
      <p:bgPr>
        <a:solidFill>
          <a:srgbClr val="F8F2E7"/>
        </a:solidFill>
      </p:bgPr>
    </p:bg>
    <p:spTree>
      <p:nvGrpSpPr>
        <p:cNvPr id="1" name=""/>
        <p:cNvGrpSpPr/>
        <p:nvPr/>
      </p:nvGrpSpPr>
      <p:grpSpPr>
        <a:xfrm>
          <a:off x="0" y="0"/>
          <a:ext cx="0" cy="0"/>
          <a:chOff x="0" y="0"/>
          <a:chExt cx="0" cy="0"/>
        </a:xfrm>
      </p:grpSpPr>
      <p:sp>
        <p:nvSpPr>
          <p:cNvPr id="12" name="Rectangles"/>
          <p:cNvSpPr>
            <a:spLocks/>
          </p:cNvSpPr>
          <p:nvPr/>
        </p:nvSpPr>
        <p:spPr>
          <a:xfrm rot="0">
            <a:off x="0" y="0"/>
            <a:ext cx="256031" cy="6858000"/>
          </a:xfrm>
          <a:prstGeom prst="rect"/>
          <a:solidFill>
            <a:srgbClr val="365A50"/>
          </a:solidFill>
          <a:ln w="12700" cmpd="sng" cap="flat">
            <a:solidFill>
              <a:srgbClr val="365A50"/>
            </a:solidFill>
            <a:prstDash val="solid"/>
            <a:round/>
          </a:ln>
        </p:spPr>
      </p:sp>
      <p:sp>
        <p:nvSpPr>
          <p:cNvPr id="13" name="Rectangles"/>
          <p:cNvSpPr>
            <a:spLocks/>
          </p:cNvSpPr>
          <p:nvPr/>
        </p:nvSpPr>
        <p:spPr>
          <a:xfrm rot="0">
            <a:off x="777240" y="1234440"/>
            <a:ext cx="6858000" cy="141732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4400" b="1" i="0" u="none" strike="noStrike" kern="1200" cap="none" spc="0" baseline="0">
                <a:solidFill>
                  <a:srgbClr val="365A50"/>
                </a:solidFill>
                <a:latin typeface="Aptos" pitchFamily="0" charset="0"/>
                <a:ea typeface="等线" pitchFamily="0" charset="0"/>
                <a:cs typeface="Aptos" pitchFamily="0" charset="0"/>
              </a:rPr>
              <a:t>Activity 3 - Case Analysis:</a:t>
            </a:r>
            <a:endParaRPr lang="en-US" altLang="zh-CN" sz="4400" b="0" i="0" u="none" strike="noStrike" kern="1200" cap="none" spc="0" baseline="0">
              <a:solidFill>
                <a:schemeClr val="tx1"/>
              </a:solidFill>
              <a:latin typeface="Aptos" pitchFamily="0" charset="0"/>
              <a:ea typeface="等线" pitchFamily="0" charset="0"/>
              <a:cs typeface="Aptos" pitchFamily="0" charset="0"/>
            </a:endParaRPr>
          </a:p>
          <a:p>
            <a:pPr marL="0" indent="0" algn="l">
              <a:lnSpc>
                <a:spcPct val="100000"/>
              </a:lnSpc>
              <a:spcBef>
                <a:spcPts val="0"/>
              </a:spcBef>
              <a:spcAft>
                <a:spcPts val="0"/>
              </a:spcAft>
              <a:buNone/>
            </a:pPr>
            <a:r>
              <a:rPr lang="en-US" altLang="zh-CN" sz="4400" b="1" i="0" u="none" strike="noStrike" kern="1200" cap="none" spc="0" baseline="0">
                <a:solidFill>
                  <a:srgbClr val="365A50"/>
                </a:solidFill>
                <a:latin typeface="Aptos" pitchFamily="0" charset="0"/>
                <a:ea typeface="等线" pitchFamily="0" charset="0"/>
                <a:cs typeface="Aptos" pitchFamily="0" charset="0"/>
              </a:rPr>
              <a:t>Case of Madison</a:t>
            </a:r>
            <a:endParaRPr lang="zh-CN" altLang="en-US" sz="4400" b="0" i="0" u="none" strike="noStrike" kern="1200" cap="none" spc="0" baseline="0">
              <a:solidFill>
                <a:schemeClr val="tx1"/>
              </a:solidFill>
              <a:latin typeface="Aptos" pitchFamily="0" charset="0"/>
              <a:ea typeface="等线" pitchFamily="0" charset="0"/>
              <a:cs typeface="Aptos" pitchFamily="0" charset="0"/>
            </a:endParaRPr>
          </a:p>
        </p:txBody>
      </p:sp>
      <p:sp>
        <p:nvSpPr>
          <p:cNvPr id="14" name="Straight line"/>
          <p:cNvSpPr>
            <a:spLocks/>
          </p:cNvSpPr>
          <p:nvPr/>
        </p:nvSpPr>
        <p:spPr>
          <a:xfrm rot="0">
            <a:off x="822960" y="2907792"/>
            <a:ext cx="3108960" cy="0"/>
          </a:xfrm>
          <a:prstGeom prst="line"/>
          <a:noFill/>
          <a:ln w="63500" cmpd="sng" cap="flat">
            <a:solidFill>
              <a:srgbClr val="D8A15D"/>
            </a:solidFill>
            <a:prstDash val="solid"/>
            <a:round/>
          </a:ln>
        </p:spPr>
      </p:sp>
      <p:sp>
        <p:nvSpPr>
          <p:cNvPr id="15" name="Rectangles"/>
          <p:cNvSpPr>
            <a:spLocks/>
          </p:cNvSpPr>
          <p:nvPr/>
        </p:nvSpPr>
        <p:spPr>
          <a:xfrm rot="0">
            <a:off x="822960" y="3246120"/>
            <a:ext cx="7132320" cy="411479"/>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2200" b="1" i="0" u="none" strike="noStrike" kern="1200" cap="none" spc="0" baseline="0">
                <a:solidFill>
                  <a:srgbClr val="C7795C"/>
                </a:solidFill>
                <a:latin typeface="Aptos" pitchFamily="0" charset="0"/>
                <a:ea typeface="等线" pitchFamily="0" charset="0"/>
                <a:cs typeface="Aptos" pitchFamily="0" charset="0"/>
              </a:rPr>
              <a:t>Submitted by: Jhomie Rose Antes</a:t>
            </a:r>
            <a:endParaRPr lang="zh-CN" altLang="en-US" sz="2200" b="0" i="0" u="none" strike="noStrike" kern="1200" cap="none" spc="0" baseline="0">
              <a:solidFill>
                <a:schemeClr val="tx1"/>
              </a:solidFill>
              <a:latin typeface="Aptos" pitchFamily="0" charset="0"/>
              <a:ea typeface="等线" pitchFamily="0" charset="0"/>
              <a:cs typeface="Aptos" pitchFamily="0" charset="0"/>
            </a:endParaRPr>
          </a:p>
        </p:txBody>
      </p:sp>
      <p:sp>
        <p:nvSpPr>
          <p:cNvPr id="17" name="Rectangles"/>
          <p:cNvSpPr>
            <a:spLocks/>
          </p:cNvSpPr>
          <p:nvPr/>
        </p:nvSpPr>
        <p:spPr>
          <a:xfrm rot="0">
            <a:off x="822960" y="4937760"/>
            <a:ext cx="9418321" cy="41148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2000" b="0" i="0" u="none" strike="noStrike" kern="1200" cap="none" spc="0" baseline="0">
                <a:solidFill>
                  <a:srgbClr val="2B2B2B"/>
                </a:solidFill>
                <a:latin typeface="Aptos" pitchFamily="0" charset="0"/>
                <a:ea typeface="等线" pitchFamily="0" charset="0"/>
                <a:cs typeface="Aptos" pitchFamily="0" charset="0"/>
              </a:rPr>
              <a:t>Assessment should guide learning while respecting every student’s present needs.</a:t>
            </a:r>
            <a:endParaRPr lang="zh-CN" altLang="en-US" sz="2000" b="0" i="0" u="none" strike="noStrike" kern="1200" cap="none" spc="0" baseline="0">
              <a:solidFill>
                <a:schemeClr val="tx1"/>
              </a:solidFill>
              <a:latin typeface="Aptos" pitchFamily="0" charset="0"/>
              <a:ea typeface="等线" pitchFamily="0" charset="0"/>
              <a:cs typeface="Aptos" pitchFamily="0" charset="0"/>
            </a:endParaRPr>
          </a:p>
        </p:txBody>
      </p:sp>
      <p:sp>
        <p:nvSpPr>
          <p:cNvPr id="18" name="Rectangles"/>
          <p:cNvSpPr>
            <a:spLocks/>
          </p:cNvSpPr>
          <p:nvPr/>
        </p:nvSpPr>
        <p:spPr>
          <a:xfrm rot="0">
            <a:off x="9006840" y="1051560"/>
            <a:ext cx="2011680" cy="292608"/>
          </a:xfrm>
          <a:prstGeom prst="rect"/>
          <a:noFill/>
          <a:ln w="12700" cmpd="sng" cap="flat">
            <a:noFill/>
            <a:prstDash val="solid"/>
            <a:miter/>
          </a:ln>
        </p:spPr>
        <p:txBody>
          <a:bodyPr vert="horz" wrap="square" lIns="0" tIns="0" rIns="0" bIns="0" anchor="ctr" anchorCtr="0">
            <a:prstTxWarp prst="textNoShape"/>
          </a:bodyPr>
          <a:lstStyle/>
          <a:p>
            <a:pPr marL="0" indent="0" algn="ctr">
              <a:lnSpc>
                <a:spcPct val="100000"/>
              </a:lnSpc>
              <a:spcBef>
                <a:spcPts val="0"/>
              </a:spcBef>
              <a:spcAft>
                <a:spcPts val="0"/>
              </a:spcAft>
              <a:buNone/>
            </a:pPr>
            <a:r>
              <a:rPr lang="en-US" altLang="zh-CN" sz="1300" b="1" i="0" u="none" strike="noStrike" kern="1200" cap="none" spc="0" baseline="0">
                <a:solidFill>
                  <a:srgbClr val="C7795C"/>
                </a:solidFill>
                <a:latin typeface="Aptos" pitchFamily="0" charset="0"/>
                <a:ea typeface="等线" pitchFamily="0" charset="0"/>
                <a:cs typeface="Aptos" pitchFamily="0" charset="0"/>
              </a:rPr>
              <a:t>Case Focus</a:t>
            </a:r>
            <a:endParaRPr lang="zh-CN" altLang="en-US" sz="1300" b="0" i="0" u="none" strike="noStrike" kern="1200" cap="none" spc="0" baseline="0">
              <a:solidFill>
                <a:schemeClr val="tx1"/>
              </a:solidFill>
              <a:latin typeface="Aptos" pitchFamily="0" charset="0"/>
              <a:ea typeface="等线" pitchFamily="0" charset="0"/>
              <a:cs typeface="Aptos" pitchFamily="0" charset="0"/>
            </a:endParaRPr>
          </a:p>
        </p:txBody>
      </p:sp>
      <p:sp>
        <p:nvSpPr>
          <p:cNvPr id="19" name="Rectangles"/>
          <p:cNvSpPr>
            <a:spLocks/>
          </p:cNvSpPr>
          <p:nvPr/>
        </p:nvSpPr>
        <p:spPr>
          <a:xfrm rot="0">
            <a:off x="8823960" y="1417320"/>
            <a:ext cx="2560320" cy="822960"/>
          </a:xfrm>
          <a:prstGeom prst="rect"/>
          <a:solidFill>
            <a:srgbClr val="FFF9EE"/>
          </a:solidFill>
          <a:ln w="12700" cmpd="sng" cap="flat">
            <a:solidFill>
              <a:srgbClr val="E6D6BF"/>
            </a:solidFill>
            <a:prstDash val="solid"/>
            <a:round/>
          </a:ln>
        </p:spPr>
        <p:txBody>
          <a:bodyPr vert="horz" wrap="square" lIns="635" tIns="635" rIns="635" bIns="635" anchor="ctr" anchorCtr="0">
            <a:prstTxWarp prst="textNoShape"/>
          </a:bodyPr>
          <a:lstStyle/>
          <a:p>
            <a:pPr marL="0" indent="0" algn="ctr">
              <a:lnSpc>
                <a:spcPct val="100000"/>
              </a:lnSpc>
              <a:spcBef>
                <a:spcPts val="0"/>
              </a:spcBef>
              <a:spcAft>
                <a:spcPts val="0"/>
              </a:spcAft>
              <a:buNone/>
            </a:pPr>
            <a:r>
              <a:rPr lang="en-US" altLang="zh-CN" sz="2600" b="1" i="0" u="none" strike="noStrike" kern="1200" cap="none" spc="0" baseline="0">
                <a:solidFill>
                  <a:srgbClr val="365A50"/>
                </a:solidFill>
                <a:latin typeface="Aptos" pitchFamily="0" charset="0"/>
                <a:ea typeface="等线" pitchFamily="0" charset="0"/>
                <a:cs typeface="Aptos" pitchFamily="0" charset="0"/>
              </a:rPr>
              <a:t>Formative</a:t>
            </a:r>
            <a:endParaRPr lang="en-US" altLang="zh-CN" sz="2600" b="0" i="0" u="none" strike="noStrike" kern="1200" cap="none" spc="0" baseline="0">
              <a:solidFill>
                <a:schemeClr val="tx1"/>
              </a:solidFill>
              <a:latin typeface="Aptos" pitchFamily="0" charset="0"/>
              <a:ea typeface="等线" pitchFamily="0" charset="0"/>
              <a:cs typeface="Aptos" pitchFamily="0" charset="0"/>
            </a:endParaRPr>
          </a:p>
          <a:p>
            <a:pPr marL="0" indent="0" algn="ctr">
              <a:lnSpc>
                <a:spcPct val="100000"/>
              </a:lnSpc>
              <a:spcBef>
                <a:spcPts val="0"/>
              </a:spcBef>
              <a:spcAft>
                <a:spcPts val="0"/>
              </a:spcAft>
              <a:buNone/>
            </a:pPr>
            <a:r>
              <a:rPr lang="en-US" altLang="zh-CN" sz="2600" b="1" i="0" u="none" strike="noStrike" kern="1200" cap="none" spc="0" baseline="0">
                <a:solidFill>
                  <a:srgbClr val="365A50"/>
                </a:solidFill>
                <a:latin typeface="Aptos" pitchFamily="0" charset="0"/>
                <a:ea typeface="等线" pitchFamily="0" charset="0"/>
                <a:cs typeface="Aptos" pitchFamily="0" charset="0"/>
              </a:rPr>
              <a:t>Assessment</a:t>
            </a:r>
            <a:endParaRPr lang="zh-CN" altLang="en-US" sz="2600" b="0" i="0" u="none" strike="noStrike" kern="1200" cap="none" spc="0" baseline="0">
              <a:solidFill>
                <a:schemeClr val="tx1"/>
              </a:solidFill>
              <a:latin typeface="Aptos" pitchFamily="0" charset="0"/>
              <a:ea typeface="等线" pitchFamily="0" charset="0"/>
              <a:cs typeface="Aptos" pitchFamily="0" charset="0"/>
            </a:endParaRPr>
          </a:p>
        </p:txBody>
      </p:sp>
      <p:sp>
        <p:nvSpPr>
          <p:cNvPr id="20" name="Rectangles"/>
          <p:cNvSpPr>
            <a:spLocks noGrp="1"/>
          </p:cNvSpPr>
          <p:nvPr>
            <p:ph type="sldNum"/>
          </p:nvPr>
        </p:nvSpPr>
        <p:spPr>
          <a:xfrm rot="0">
            <a:off x="11064240" y="6419087"/>
            <a:ext cx="548639" cy="228600"/>
          </a:xfrm>
          <a:prstGeom prst="rect"/>
          <a:noFill/>
          <a:ln cmpd="sng" cap="flat">
            <a:noFill/>
            <a:prstDash val="solid"/>
            <a:miter/>
          </a:ln>
        </p:spPr>
        <p:txBody>
          <a:bodyPr vert="horz" wrap="none" lIns="-12700" tIns="-12700" rIns="-12700" bIns="-12700" anchor="t" anchorCtr="0">
            <a:prstTxWarp prst="textNoShape"/>
          </a:bodyPr>
          <a:lstStyle/>
          <a:p>
            <a:pPr marL="0" indent="0" algn="l">
              <a:lnSpc>
                <a:spcPct val="100000"/>
              </a:lnSpc>
              <a:spcBef>
                <a:spcPts val="0"/>
              </a:spcBef>
              <a:spcAft>
                <a:spcPts val="0"/>
              </a:spcAft>
              <a:buNone/>
            </a:pPr>
            <a:fld id="{CAD2D6BD-DE1B-4B5F-8B41-2702339687B9}" type="slidenum">
              <a:rPr lang="en-US" altLang="zh-CN" sz="750" b="0" i="0" u="none" strike="noStrike" kern="1200" cap="none" spc="0" baseline="0">
                <a:solidFill>
                  <a:srgbClr val="80613D"/>
                </a:solidFill>
                <a:latin typeface="Aptos" pitchFamily="0" charset="0"/>
                <a:ea typeface="Aptos" pitchFamily="0" charset="0"/>
                <a:cs typeface="Aptos" pitchFamily="0" charset="0"/>
              </a:rPr>
              <a:t>1</a:t>
            </a:fld>
            <a:endParaRPr lang="zh-CN" altLang="en-US" sz="750" b="0" i="0" u="none" strike="noStrike" kern="1200" cap="none" spc="0" baseline="0">
              <a:solidFill>
                <a:srgbClr val="80613D"/>
              </a:solidFill>
              <a:latin typeface="Aptos" pitchFamily="0" charset="0"/>
              <a:ea typeface="Aptos" pitchFamily="0" charset="0"/>
              <a:cs typeface="Aptos" pitchFamily="0" charset="0"/>
            </a:endParaRPr>
          </a:p>
        </p:txBody>
      </p:sp>
    </p:spTree>
    <p:extLst>
      <p:ext uri="{BB962C8B-B14F-4D97-AF65-F5344CB8AC3E}">
        <p14:creationId xmlns:p14="http://schemas.microsoft.com/office/powerpoint/2010/main" val="155298169"/>
      </p:ext>
    </p:extLst>
  </p:cSld>
  <p:clrMapOvr>
    <a:masterClrMapping/>
  </p:clrMapOvr>
</p:sld>
</file>

<file path=ppt/slides/slide2.xml><?xml version="1.0" encoding="utf-8"?>
<p:sld xmlns:p="http://schemas.openxmlformats.org/presentationml/2006/main" xmlns:r="http://schemas.openxmlformats.org/officeDocument/2006/relationships" xmlns:a="http://schemas.openxmlformats.org/drawingml/2006/main">
  <p:cSld>
    <p:bg>
      <p:bgPr>
        <a:solidFill>
          <a:srgbClr val="F8F2E7"/>
        </a:solidFill>
      </p:bgPr>
    </p:bg>
    <p:spTree>
      <p:nvGrpSpPr>
        <p:cNvPr id="1" name=""/>
        <p:cNvGrpSpPr/>
        <p:nvPr/>
      </p:nvGrpSpPr>
      <p:grpSpPr>
        <a:xfrm>
          <a:off x="0" y="0"/>
          <a:ext cx="0" cy="0"/>
          <a:chOff x="0" y="0"/>
          <a:chExt cx="0" cy="0"/>
        </a:xfrm>
      </p:grpSpPr>
      <p:sp>
        <p:nvSpPr>
          <p:cNvPr id="24" name="Rectangles"/>
          <p:cNvSpPr>
            <a:spLocks/>
          </p:cNvSpPr>
          <p:nvPr/>
        </p:nvSpPr>
        <p:spPr>
          <a:xfrm rot="0">
            <a:off x="685800" y="411480"/>
            <a:ext cx="3474720" cy="256031"/>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200" b="1" i="0" u="none" strike="noStrike" kern="1200" cap="none" spc="0" baseline="0">
                <a:solidFill>
                  <a:srgbClr val="C7795C"/>
                </a:solidFill>
                <a:latin typeface="Aptos" pitchFamily="0" charset="0"/>
                <a:ea typeface="等线" pitchFamily="0" charset="0"/>
                <a:cs typeface="Aptos" pitchFamily="0" charset="0"/>
              </a:rPr>
              <a:t>Context</a:t>
            </a:r>
            <a:endParaRPr lang="zh-CN" altLang="en-US" sz="1200" b="0" i="0" u="none" strike="noStrike" kern="1200" cap="none" spc="0" baseline="0">
              <a:solidFill>
                <a:schemeClr val="tx1"/>
              </a:solidFill>
              <a:latin typeface="Aptos" pitchFamily="0" charset="0"/>
              <a:ea typeface="等线" pitchFamily="0" charset="0"/>
              <a:cs typeface="Aptos" pitchFamily="0" charset="0"/>
            </a:endParaRPr>
          </a:p>
        </p:txBody>
      </p:sp>
      <p:sp>
        <p:nvSpPr>
          <p:cNvPr id="25" name="Rectangles"/>
          <p:cNvSpPr>
            <a:spLocks/>
          </p:cNvSpPr>
          <p:nvPr/>
        </p:nvSpPr>
        <p:spPr>
          <a:xfrm rot="0">
            <a:off x="658368" y="713232"/>
            <a:ext cx="10698479" cy="54864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3000" b="1" i="0" u="none" strike="noStrike" kern="1200" cap="none" spc="0" baseline="0">
                <a:solidFill>
                  <a:srgbClr val="365A50"/>
                </a:solidFill>
                <a:latin typeface="Aptos" pitchFamily="0" charset="0"/>
                <a:ea typeface="等线" pitchFamily="0" charset="0"/>
                <a:cs typeface="Aptos" pitchFamily="0" charset="0"/>
              </a:rPr>
              <a:t>Case Snapshot</a:t>
            </a:r>
            <a:endParaRPr lang="zh-CN" altLang="en-US" sz="3000" b="0" i="0" u="none" strike="noStrike" kern="1200" cap="none" spc="0" baseline="0">
              <a:solidFill>
                <a:schemeClr val="tx1"/>
              </a:solidFill>
              <a:latin typeface="Aptos" pitchFamily="0" charset="0"/>
              <a:ea typeface="等线" pitchFamily="0" charset="0"/>
              <a:cs typeface="Aptos" pitchFamily="0" charset="0"/>
            </a:endParaRPr>
          </a:p>
        </p:txBody>
      </p:sp>
      <p:sp>
        <p:nvSpPr>
          <p:cNvPr id="26" name="Straight line"/>
          <p:cNvSpPr>
            <a:spLocks/>
          </p:cNvSpPr>
          <p:nvPr/>
        </p:nvSpPr>
        <p:spPr>
          <a:xfrm rot="0">
            <a:off x="685800" y="1399032"/>
            <a:ext cx="1920240" cy="0"/>
          </a:xfrm>
          <a:prstGeom prst="line"/>
          <a:noFill/>
          <a:ln w="38100" cmpd="sng" cap="flat">
            <a:solidFill>
              <a:srgbClr val="D8A15D"/>
            </a:solidFill>
            <a:prstDash val="solid"/>
            <a:round/>
          </a:ln>
        </p:spPr>
      </p:sp>
      <p:sp>
        <p:nvSpPr>
          <p:cNvPr id="27" name="Rectangles"/>
          <p:cNvSpPr>
            <a:spLocks/>
          </p:cNvSpPr>
          <p:nvPr/>
        </p:nvSpPr>
        <p:spPr>
          <a:xfrm rot="0">
            <a:off x="731520" y="1691639"/>
            <a:ext cx="5074920" cy="914400"/>
          </a:xfrm>
          <a:prstGeom prst="rect"/>
          <a:noFill/>
          <a:ln w="12700" cmpd="sng" cap="flat">
            <a:noFill/>
            <a:prstDash val="solid"/>
            <a:miter/>
          </a:ln>
        </p:spPr>
        <p:txBody>
          <a:bodyPr vert="horz" wrap="square" lIns="1016" tIns="1016" rIns="1016" bIns="1016" anchor="t" anchorCtr="0">
            <a:prstTxWarp prst="textNoShape"/>
          </a:bodyPr>
          <a:lstStyle/>
          <a:p>
            <a:pPr marL="0" indent="0" algn="l">
              <a:lnSpc>
                <a:spcPct val="100000"/>
              </a:lnSpc>
              <a:spcBef>
                <a:spcPts val="0"/>
              </a:spcBef>
              <a:spcAft>
                <a:spcPts val="0"/>
              </a:spcAft>
              <a:buNone/>
            </a:pPr>
            <a:r>
              <a:rPr lang="en-US" altLang="zh-CN" sz="2300" b="1" i="0" u="none" strike="noStrike" kern="1200" cap="none" spc="0" baseline="0">
                <a:solidFill>
                  <a:srgbClr val="2B2B2B"/>
                </a:solidFill>
                <a:latin typeface="Aptos" pitchFamily="0" charset="0"/>
                <a:ea typeface="Aptos" pitchFamily="0" charset="0"/>
                <a:cs typeface="Aptos" pitchFamily="0" charset="0"/>
              </a:rPr>
              <a:t>Madison uses flexible grouping in class, but her decisions lean heavily on past observations and earlier performance.</a:t>
            </a:r>
            <a:endParaRPr lang="zh-CN" altLang="en-US" sz="2300" b="0" i="0" u="none" strike="noStrike" kern="1200" cap="none" spc="0" baseline="0">
              <a:solidFill>
                <a:schemeClr val="tx1"/>
              </a:solidFill>
              <a:latin typeface="Aptos" pitchFamily="0" charset="0"/>
              <a:ea typeface="等线" pitchFamily="0" charset="0"/>
              <a:cs typeface="Aptos" pitchFamily="0" charset="0"/>
            </a:endParaRPr>
          </a:p>
        </p:txBody>
      </p:sp>
      <p:sp>
        <p:nvSpPr>
          <p:cNvPr id="28" name="Rectangles"/>
          <p:cNvSpPr>
            <a:spLocks/>
          </p:cNvSpPr>
          <p:nvPr/>
        </p:nvSpPr>
        <p:spPr>
          <a:xfrm rot="0">
            <a:off x="683895" y="3427085"/>
            <a:ext cx="5166360" cy="960120"/>
          </a:xfrm>
          <a:prstGeom prst="rect"/>
          <a:noFill/>
          <a:ln w="12700" cmpd="sng" cap="flat">
            <a:noFill/>
            <a:prstDash val="solid"/>
            <a:miter/>
          </a:ln>
        </p:spPr>
        <p:txBody>
          <a:bodyPr vert="horz" wrap="square" lIns="1016" tIns="1016" rIns="1016" bIns="1016" anchor="t" anchorCtr="0">
            <a:prstTxWarp prst="textNoShape"/>
          </a:bodyPr>
          <a:lstStyle/>
          <a:p>
            <a:pPr marL="0" indent="0" algn="l">
              <a:lnSpc>
                <a:spcPct val="100000"/>
              </a:lnSpc>
              <a:spcBef>
                <a:spcPts val="0"/>
              </a:spcBef>
              <a:spcAft>
                <a:spcPts val="0"/>
              </a:spcAft>
              <a:buNone/>
            </a:pPr>
            <a:r>
              <a:rPr lang="en-US" altLang="zh-CN" sz="1800" b="0" i="0" u="none" strike="noStrike" kern="1200" cap="none" spc="0" baseline="0">
                <a:solidFill>
                  <a:srgbClr val="5F5B55"/>
                </a:solidFill>
                <a:latin typeface="Aptos" pitchFamily="0" charset="0"/>
                <a:ea typeface="Aptos" pitchFamily="0" charset="0"/>
                <a:cs typeface="Aptos" pitchFamily="0" charset="0"/>
              </a:rPr>
              <a:t>The concern is not grouping itself. The concern is that real-time checks for understanding are not consistently applied to every student during the lesson.</a:t>
            </a:r>
            <a:endParaRPr lang="zh-CN" altLang="en-US" sz="1800" b="0" i="0" u="none" strike="noStrike" kern="1200" cap="none" spc="0" baseline="0">
              <a:solidFill>
                <a:schemeClr val="tx1"/>
              </a:solidFill>
              <a:latin typeface="Aptos" pitchFamily="0" charset="0"/>
              <a:ea typeface="等线" pitchFamily="0" charset="0"/>
              <a:cs typeface="Aptos" pitchFamily="0" charset="0"/>
            </a:endParaRPr>
          </a:p>
        </p:txBody>
      </p:sp>
      <p:sp>
        <p:nvSpPr>
          <p:cNvPr id="29" name="Straight line"/>
          <p:cNvSpPr>
            <a:spLocks/>
          </p:cNvSpPr>
          <p:nvPr/>
        </p:nvSpPr>
        <p:spPr>
          <a:xfrm flipV="1" rot="21600000">
            <a:off x="6309360" y="2606040"/>
            <a:ext cx="2560319" cy="137160"/>
          </a:xfrm>
          <a:prstGeom prst="line"/>
          <a:noFill/>
          <a:ln w="38100" cmpd="sng" cap="flat">
            <a:solidFill>
              <a:srgbClr val="8BA888"/>
            </a:solidFill>
            <a:prstDash val="solid"/>
            <a:round/>
            <a:tailEnd type="triangle" w="med" len="med"/>
          </a:ln>
        </p:spPr>
      </p:sp>
      <p:sp>
        <p:nvSpPr>
          <p:cNvPr id="30" name="Rectangles"/>
          <p:cNvSpPr>
            <a:spLocks/>
          </p:cNvSpPr>
          <p:nvPr/>
        </p:nvSpPr>
        <p:spPr>
          <a:xfrm rot="0">
            <a:off x="5943599" y="2304288"/>
            <a:ext cx="1874519" cy="731520"/>
          </a:xfrm>
          <a:prstGeom prst="rect"/>
          <a:solidFill>
            <a:srgbClr val="EADCC9"/>
          </a:solidFill>
          <a:ln w="12700" cmpd="sng" cap="flat">
            <a:solidFill>
              <a:srgbClr val="EADCC9"/>
            </a:solidFill>
            <a:prstDash val="solid"/>
            <a:round/>
          </a:ln>
        </p:spPr>
        <p:txBody>
          <a:bodyPr vert="horz" wrap="square" lIns="635" tIns="635" rIns="635" bIns="635" anchor="ctr" anchorCtr="0">
            <a:prstTxWarp prst="textNoShape"/>
          </a:bodyPr>
          <a:lstStyle/>
          <a:p>
            <a:pPr marL="0" indent="0" algn="ctr">
              <a:lnSpc>
                <a:spcPct val="100000"/>
              </a:lnSpc>
              <a:spcBef>
                <a:spcPts val="0"/>
              </a:spcBef>
              <a:spcAft>
                <a:spcPts val="0"/>
              </a:spcAft>
              <a:buNone/>
            </a:pPr>
            <a:r>
              <a:rPr lang="en-US" altLang="zh-CN" sz="1600" b="1" i="0" u="none" strike="noStrike" kern="1200" cap="none" spc="0" baseline="0">
                <a:solidFill>
                  <a:srgbClr val="365A50"/>
                </a:solidFill>
                <a:latin typeface="Aptos" pitchFamily="0" charset="0"/>
                <a:ea typeface="等线" pitchFamily="0" charset="0"/>
                <a:cs typeface="Aptos" pitchFamily="0" charset="0"/>
              </a:rPr>
              <a:t>Past performance</a:t>
            </a:r>
            <a:endParaRPr lang="zh-CN" altLang="en-US" sz="1600" b="0" i="0" u="none" strike="noStrike" kern="1200" cap="none" spc="0" baseline="0">
              <a:solidFill>
                <a:schemeClr val="tx1"/>
              </a:solidFill>
              <a:latin typeface="Aptos" pitchFamily="0" charset="0"/>
              <a:ea typeface="等线" pitchFamily="0" charset="0"/>
              <a:cs typeface="Aptos" pitchFamily="0" charset="0"/>
            </a:endParaRPr>
          </a:p>
        </p:txBody>
      </p:sp>
      <p:sp>
        <p:nvSpPr>
          <p:cNvPr id="31" name="Rectangles"/>
          <p:cNvSpPr>
            <a:spLocks/>
          </p:cNvSpPr>
          <p:nvPr/>
        </p:nvSpPr>
        <p:spPr>
          <a:xfrm rot="0">
            <a:off x="9121124" y="2151890"/>
            <a:ext cx="2240280" cy="731520"/>
          </a:xfrm>
          <a:prstGeom prst="rect"/>
          <a:solidFill>
            <a:srgbClr val="DDE9DB"/>
          </a:solidFill>
          <a:ln w="12700" cmpd="sng" cap="flat">
            <a:solidFill>
              <a:srgbClr val="DDE9DB"/>
            </a:solidFill>
            <a:prstDash val="solid"/>
            <a:round/>
          </a:ln>
        </p:spPr>
        <p:txBody>
          <a:bodyPr vert="horz" wrap="square" lIns="635" tIns="635" rIns="635" bIns="635" anchor="ctr" anchorCtr="0">
            <a:prstTxWarp prst="textNoShape"/>
          </a:bodyPr>
          <a:lstStyle/>
          <a:p>
            <a:pPr marL="0" indent="0" algn="ctr">
              <a:lnSpc>
                <a:spcPct val="100000"/>
              </a:lnSpc>
              <a:spcBef>
                <a:spcPts val="0"/>
              </a:spcBef>
              <a:spcAft>
                <a:spcPts val="0"/>
              </a:spcAft>
              <a:buNone/>
            </a:pPr>
            <a:r>
              <a:rPr lang="en-US" altLang="zh-CN" sz="1600" b="1" i="0" u="none" strike="noStrike" kern="1200" cap="none" spc="0" baseline="0">
                <a:solidFill>
                  <a:srgbClr val="365A50"/>
                </a:solidFill>
                <a:latin typeface="Aptos" pitchFamily="0" charset="0"/>
                <a:ea typeface="等线" pitchFamily="0" charset="0"/>
                <a:cs typeface="Aptos" pitchFamily="0" charset="0"/>
              </a:rPr>
              <a:t>Current understanding</a:t>
            </a:r>
            <a:endParaRPr lang="zh-CN" altLang="en-US" sz="1600" b="0" i="0" u="none" strike="noStrike" kern="1200" cap="none" spc="0" baseline="0">
              <a:solidFill>
                <a:schemeClr val="tx1"/>
              </a:solidFill>
              <a:latin typeface="Aptos" pitchFamily="0" charset="0"/>
              <a:ea typeface="等线" pitchFamily="0" charset="0"/>
              <a:cs typeface="Aptos" pitchFamily="0" charset="0"/>
            </a:endParaRPr>
          </a:p>
        </p:txBody>
      </p:sp>
      <p:sp>
        <p:nvSpPr>
          <p:cNvPr id="32" name="Rectangles"/>
          <p:cNvSpPr>
            <a:spLocks/>
          </p:cNvSpPr>
          <p:nvPr/>
        </p:nvSpPr>
        <p:spPr>
          <a:xfrm rot="0">
            <a:off x="8869680" y="4480560"/>
            <a:ext cx="2148840" cy="731519"/>
          </a:xfrm>
          <a:prstGeom prst="rect"/>
          <a:solidFill>
            <a:srgbClr val="F1D6C6"/>
          </a:solidFill>
          <a:ln w="12700" cmpd="sng" cap="flat">
            <a:solidFill>
              <a:srgbClr val="F1D6C6"/>
            </a:solidFill>
            <a:prstDash val="solid"/>
            <a:round/>
          </a:ln>
        </p:spPr>
        <p:txBody>
          <a:bodyPr vert="horz" wrap="square" lIns="635" tIns="635" rIns="635" bIns="635" anchor="ctr" anchorCtr="0">
            <a:prstTxWarp prst="textNoShape"/>
          </a:bodyPr>
          <a:lstStyle/>
          <a:p>
            <a:pPr marL="0" indent="0" algn="ctr">
              <a:lnSpc>
                <a:spcPct val="100000"/>
              </a:lnSpc>
              <a:spcBef>
                <a:spcPts val="0"/>
              </a:spcBef>
              <a:spcAft>
                <a:spcPts val="0"/>
              </a:spcAft>
              <a:buNone/>
            </a:pPr>
            <a:r>
              <a:rPr lang="en-US" altLang="zh-CN" sz="1600" b="1" i="0" u="none" strike="noStrike" kern="1200" cap="none" spc="0" baseline="0">
                <a:solidFill>
                  <a:srgbClr val="365A50"/>
                </a:solidFill>
                <a:latin typeface="Aptos" pitchFamily="0" charset="0"/>
                <a:ea typeface="等线" pitchFamily="0" charset="0"/>
                <a:cs typeface="Aptos" pitchFamily="0" charset="0"/>
              </a:rPr>
              <a:t>Responsive support</a:t>
            </a:r>
            <a:endParaRPr lang="zh-CN" altLang="en-US" sz="1600" b="0" i="0" u="none" strike="noStrike" kern="1200" cap="none" spc="0" baseline="0">
              <a:solidFill>
                <a:schemeClr val="tx1"/>
              </a:solidFill>
              <a:latin typeface="Aptos" pitchFamily="0" charset="0"/>
              <a:ea typeface="等线" pitchFamily="0" charset="0"/>
              <a:cs typeface="Aptos" pitchFamily="0" charset="0"/>
            </a:endParaRPr>
          </a:p>
        </p:txBody>
      </p:sp>
      <p:sp>
        <p:nvSpPr>
          <p:cNvPr id="33" name="Straight line"/>
          <p:cNvSpPr>
            <a:spLocks/>
          </p:cNvSpPr>
          <p:nvPr/>
        </p:nvSpPr>
        <p:spPr>
          <a:xfrm rot="0">
            <a:off x="9235440" y="3063239"/>
            <a:ext cx="713232" cy="1280160"/>
          </a:xfrm>
          <a:prstGeom prst="line"/>
          <a:noFill/>
          <a:ln w="30480" cmpd="sng" cap="flat">
            <a:solidFill>
              <a:srgbClr val="C7795C"/>
            </a:solidFill>
            <a:prstDash val="solid"/>
            <a:round/>
            <a:tailEnd type="triangle" w="med" len="med"/>
          </a:ln>
        </p:spPr>
      </p:sp>
      <p:sp>
        <p:nvSpPr>
          <p:cNvPr id="34" name="Rectangles"/>
          <p:cNvSpPr>
            <a:spLocks/>
          </p:cNvSpPr>
          <p:nvPr/>
        </p:nvSpPr>
        <p:spPr>
          <a:xfrm rot="0">
            <a:off x="6583680" y="4937760"/>
            <a:ext cx="1645919" cy="22860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200" b="1" i="0" u="none" strike="noStrike" kern="1200" cap="none" spc="0" baseline="0">
                <a:solidFill>
                  <a:srgbClr val="C7795C"/>
                </a:solidFill>
                <a:latin typeface="Aptos" pitchFamily="0" charset="0"/>
                <a:ea typeface="等线" pitchFamily="0" charset="0"/>
                <a:cs typeface="Aptos" pitchFamily="0" charset="0"/>
              </a:rPr>
              <a:t>Key tension</a:t>
            </a:r>
            <a:endParaRPr lang="zh-CN" altLang="en-US" sz="1200" b="0" i="0" u="none" strike="noStrike" kern="1200" cap="none" spc="0" baseline="0">
              <a:solidFill>
                <a:schemeClr val="tx1"/>
              </a:solidFill>
              <a:latin typeface="Aptos" pitchFamily="0" charset="0"/>
              <a:ea typeface="等线" pitchFamily="0" charset="0"/>
              <a:cs typeface="Aptos" pitchFamily="0" charset="0"/>
            </a:endParaRPr>
          </a:p>
        </p:txBody>
      </p:sp>
      <p:sp>
        <p:nvSpPr>
          <p:cNvPr id="35" name="Rectangles"/>
          <p:cNvSpPr>
            <a:spLocks/>
          </p:cNvSpPr>
          <p:nvPr/>
        </p:nvSpPr>
        <p:spPr>
          <a:xfrm rot="0">
            <a:off x="6080760" y="5349239"/>
            <a:ext cx="4800601" cy="658367"/>
          </a:xfrm>
          <a:prstGeom prst="rect"/>
          <a:noFill/>
          <a:ln w="12700" cmpd="sng" cap="flat">
            <a:noFill/>
            <a:prstDash val="solid"/>
            <a:miter/>
          </a:ln>
        </p:spPr>
        <p:txBody>
          <a:bodyPr vert="horz" wrap="square" lIns="1016" tIns="1016" rIns="1016" bIns="1016" anchor="t" anchorCtr="0">
            <a:prstTxWarp prst="textNoShape"/>
          </a:bodyPr>
          <a:lstStyle/>
          <a:p>
            <a:pPr marL="0" indent="0" algn="l">
              <a:lnSpc>
                <a:spcPct val="100000"/>
              </a:lnSpc>
              <a:spcBef>
                <a:spcPts val="0"/>
              </a:spcBef>
              <a:spcAft>
                <a:spcPts val="0"/>
              </a:spcAft>
              <a:buNone/>
            </a:pPr>
            <a:r>
              <a:rPr lang="en-US" altLang="zh-CN" sz="1800" b="1" i="0" u="none" strike="noStrike" kern="1200" cap="none" spc="0" baseline="0">
                <a:solidFill>
                  <a:srgbClr val="365A50"/>
                </a:solidFill>
                <a:latin typeface="Aptos" pitchFamily="0" charset="0"/>
                <a:ea typeface="Aptos" pitchFamily="0" charset="0"/>
                <a:cs typeface="Aptos" pitchFamily="0" charset="0"/>
              </a:rPr>
              <a:t>Assessment should reveal what students need now — not simply confirm what they showed before.</a:t>
            </a:r>
            <a:endParaRPr lang="zh-CN" altLang="en-US" sz="1800" b="0" i="0" u="none" strike="noStrike" kern="1200" cap="none" spc="0" baseline="0">
              <a:solidFill>
                <a:schemeClr val="tx1"/>
              </a:solidFill>
              <a:latin typeface="Aptos" pitchFamily="0" charset="0"/>
              <a:ea typeface="等线" pitchFamily="0" charset="0"/>
              <a:cs typeface="Aptos" pitchFamily="0" charset="0"/>
            </a:endParaRPr>
          </a:p>
        </p:txBody>
      </p:sp>
      <p:sp>
        <p:nvSpPr>
          <p:cNvPr id="36" name="Rectangles"/>
          <p:cNvSpPr>
            <a:spLocks noGrp="1"/>
          </p:cNvSpPr>
          <p:nvPr>
            <p:ph type="sldNum"/>
          </p:nvPr>
        </p:nvSpPr>
        <p:spPr>
          <a:xfrm rot="0">
            <a:off x="11064240" y="6419087"/>
            <a:ext cx="548639" cy="228600"/>
          </a:xfrm>
          <a:prstGeom prst="rect"/>
          <a:noFill/>
          <a:ln cmpd="sng" cap="flat">
            <a:noFill/>
            <a:prstDash val="solid"/>
            <a:miter/>
          </a:ln>
        </p:spPr>
        <p:txBody>
          <a:bodyPr vert="horz" wrap="none" lIns="-12700" tIns="-12700" rIns="-12700" bIns="-12700" anchor="t" anchorCtr="0">
            <a:prstTxWarp prst="textNoShape"/>
          </a:bodyPr>
          <a:lstStyle/>
          <a:p>
            <a:pPr marL="0" indent="0" algn="l">
              <a:lnSpc>
                <a:spcPct val="100000"/>
              </a:lnSpc>
              <a:spcBef>
                <a:spcPts val="0"/>
              </a:spcBef>
              <a:spcAft>
                <a:spcPts val="0"/>
              </a:spcAft>
              <a:buNone/>
            </a:pPr>
            <a:fld id="{CAD2D6BD-DE1B-4B5F-8B41-2702339687B9}" type="slidenum">
              <a:rPr lang="en-US" altLang="zh-CN" sz="750" b="0" i="0" u="none" strike="noStrike" kern="1200" cap="none" spc="0" baseline="0">
                <a:solidFill>
                  <a:srgbClr val="80613D"/>
                </a:solidFill>
                <a:latin typeface="Aptos" pitchFamily="0" charset="0"/>
                <a:ea typeface="Aptos" pitchFamily="0" charset="0"/>
                <a:cs typeface="Aptos" pitchFamily="0" charset="0"/>
              </a:rPr>
              <a:t>2</a:t>
            </a:fld>
            <a:endParaRPr lang="zh-CN" altLang="en-US" sz="750" b="0" i="0" u="none" strike="noStrike" kern="1200" cap="none" spc="0" baseline="0">
              <a:solidFill>
                <a:srgbClr val="80613D"/>
              </a:solidFill>
              <a:latin typeface="Aptos" pitchFamily="0" charset="0"/>
              <a:ea typeface="Aptos" pitchFamily="0" charset="0"/>
              <a:cs typeface="Aptos" pitchFamily="0" charset="0"/>
            </a:endParaRPr>
          </a:p>
        </p:txBody>
      </p:sp>
    </p:spTree>
    <p:extLst>
      <p:ext uri="{BB962C8B-B14F-4D97-AF65-F5344CB8AC3E}">
        <p14:creationId xmlns:p14="http://schemas.microsoft.com/office/powerpoint/2010/main" val="1509067811"/>
      </p:ext>
    </p:extLst>
  </p:cSld>
  <p:clrMapOvr>
    <a:masterClrMapping/>
  </p:clrMapOvr>
</p:sld>
</file>

<file path=ppt/slides/slide3.xml><?xml version="1.0" encoding="utf-8"?>
<p:sld xmlns:p="http://schemas.openxmlformats.org/presentationml/2006/main" xmlns:r="http://schemas.openxmlformats.org/officeDocument/2006/relationships" xmlns:a="http://schemas.openxmlformats.org/drawingml/2006/main">
  <p:cSld>
    <p:bg>
      <p:bgPr>
        <a:solidFill>
          <a:srgbClr val="F8F2E7"/>
        </a:solidFill>
      </p:bgPr>
    </p:bg>
    <p:spTree>
      <p:nvGrpSpPr>
        <p:cNvPr id="1" name=""/>
        <p:cNvGrpSpPr/>
        <p:nvPr/>
      </p:nvGrpSpPr>
      <p:grpSpPr>
        <a:xfrm>
          <a:off x="0" y="0"/>
          <a:ext cx="0" cy="0"/>
          <a:chOff x="0" y="0"/>
          <a:chExt cx="0" cy="0"/>
        </a:xfrm>
      </p:grpSpPr>
      <p:sp>
        <p:nvSpPr>
          <p:cNvPr id="40" name="Rectangles"/>
          <p:cNvSpPr>
            <a:spLocks/>
          </p:cNvSpPr>
          <p:nvPr/>
        </p:nvSpPr>
        <p:spPr>
          <a:xfrm rot="0">
            <a:off x="685800" y="411480"/>
            <a:ext cx="3474720" cy="256031"/>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200" b="1" i="0" u="none" strike="noStrike" kern="1200" cap="none" spc="0" baseline="0">
                <a:solidFill>
                  <a:srgbClr val="C7795C"/>
                </a:solidFill>
                <a:latin typeface="Aptos" pitchFamily="0" charset="0"/>
                <a:ea typeface="等线" pitchFamily="0" charset="0"/>
                <a:cs typeface="Aptos" pitchFamily="0" charset="0"/>
              </a:rPr>
              <a:t>Problem Identification</a:t>
            </a:r>
            <a:endParaRPr lang="zh-CN" altLang="en-US" sz="1200" b="0" i="0" u="none" strike="noStrike" kern="1200" cap="none" spc="0" baseline="0">
              <a:solidFill>
                <a:schemeClr val="tx1"/>
              </a:solidFill>
              <a:latin typeface="Aptos" pitchFamily="0" charset="0"/>
              <a:ea typeface="等线" pitchFamily="0" charset="0"/>
              <a:cs typeface="Aptos" pitchFamily="0" charset="0"/>
            </a:endParaRPr>
          </a:p>
        </p:txBody>
      </p:sp>
      <p:sp>
        <p:nvSpPr>
          <p:cNvPr id="41" name="Rectangles"/>
          <p:cNvSpPr>
            <a:spLocks/>
          </p:cNvSpPr>
          <p:nvPr/>
        </p:nvSpPr>
        <p:spPr>
          <a:xfrm rot="0">
            <a:off x="658368" y="713232"/>
            <a:ext cx="10698479" cy="54864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3000" b="1" i="0" u="none" strike="noStrike" kern="1200" cap="none" spc="0" baseline="0">
                <a:solidFill>
                  <a:srgbClr val="365A50"/>
                </a:solidFill>
                <a:latin typeface="Aptos" pitchFamily="0" charset="0"/>
                <a:ea typeface="等线" pitchFamily="0" charset="0"/>
                <a:cs typeface="Aptos" pitchFamily="0" charset="0"/>
              </a:rPr>
              <a:t>Question 1 and Answer</a:t>
            </a:r>
            <a:endParaRPr lang="zh-CN" altLang="en-US" sz="3000" b="0" i="0" u="none" strike="noStrike" kern="1200" cap="none" spc="0" baseline="0">
              <a:solidFill>
                <a:schemeClr val="tx1"/>
              </a:solidFill>
              <a:latin typeface="Aptos" pitchFamily="0" charset="0"/>
              <a:ea typeface="等线" pitchFamily="0" charset="0"/>
              <a:cs typeface="Aptos" pitchFamily="0" charset="0"/>
            </a:endParaRPr>
          </a:p>
        </p:txBody>
      </p:sp>
      <p:sp>
        <p:nvSpPr>
          <p:cNvPr id="42" name="Straight line"/>
          <p:cNvSpPr>
            <a:spLocks/>
          </p:cNvSpPr>
          <p:nvPr/>
        </p:nvSpPr>
        <p:spPr>
          <a:xfrm rot="0">
            <a:off x="685800" y="1399032"/>
            <a:ext cx="1920240" cy="0"/>
          </a:xfrm>
          <a:prstGeom prst="line"/>
          <a:noFill/>
          <a:ln w="38100" cmpd="sng" cap="flat">
            <a:solidFill>
              <a:srgbClr val="D8A15D"/>
            </a:solidFill>
            <a:prstDash val="solid"/>
            <a:round/>
          </a:ln>
        </p:spPr>
      </p:sp>
      <p:sp>
        <p:nvSpPr>
          <p:cNvPr id="43" name="Rectangles"/>
          <p:cNvSpPr>
            <a:spLocks/>
          </p:cNvSpPr>
          <p:nvPr/>
        </p:nvSpPr>
        <p:spPr>
          <a:xfrm rot="0">
            <a:off x="731520" y="1600200"/>
            <a:ext cx="1097280" cy="256031"/>
          </a:xfrm>
          <a:prstGeom prst="rect"/>
          <a:noFill/>
          <a:ln w="12700" cmpd="sng" cap="flat">
            <a:noFill/>
            <a:prstDash val="solid"/>
            <a:miter/>
          </a:ln>
        </p:spPr>
        <p:txBody>
          <a:bodyPr vert="horz" wrap="square" lIns="1016" tIns="1016" rIns="1016" bIns="1016" anchor="t" anchorCtr="0">
            <a:prstTxWarp prst="textNoShape"/>
          </a:bodyPr>
          <a:lstStyle/>
          <a:p>
            <a:pPr marL="0" indent="0" algn="l">
              <a:lnSpc>
                <a:spcPct val="100000"/>
              </a:lnSpc>
              <a:spcBef>
                <a:spcPts val="0"/>
              </a:spcBef>
              <a:spcAft>
                <a:spcPts val="0"/>
              </a:spcAft>
              <a:buNone/>
            </a:pPr>
            <a:r>
              <a:rPr lang="en-US" altLang="zh-CN" sz="1500" b="1" i="0" u="none" strike="noStrike" kern="1200" cap="none" spc="0" baseline="0">
                <a:solidFill>
                  <a:srgbClr val="C7795C"/>
                </a:solidFill>
                <a:latin typeface="Aptos" pitchFamily="0" charset="0"/>
                <a:ea typeface="Aptos" pitchFamily="0" charset="0"/>
                <a:cs typeface="Aptos" pitchFamily="0" charset="0"/>
              </a:rPr>
              <a:t>Question:</a:t>
            </a:r>
            <a:endParaRPr lang="zh-CN" altLang="en-US" sz="1500" b="0" i="0" u="none" strike="noStrike" kern="1200" cap="none" spc="0" baseline="0">
              <a:solidFill>
                <a:schemeClr val="tx1"/>
              </a:solidFill>
              <a:latin typeface="Aptos" pitchFamily="0" charset="0"/>
              <a:ea typeface="等线" pitchFamily="0" charset="0"/>
              <a:cs typeface="Aptos" pitchFamily="0" charset="0"/>
            </a:endParaRPr>
          </a:p>
        </p:txBody>
      </p:sp>
      <p:sp>
        <p:nvSpPr>
          <p:cNvPr id="44" name="Rectangles"/>
          <p:cNvSpPr>
            <a:spLocks/>
          </p:cNvSpPr>
          <p:nvPr/>
        </p:nvSpPr>
        <p:spPr>
          <a:xfrm rot="0">
            <a:off x="2011679" y="1554480"/>
            <a:ext cx="9509760" cy="502919"/>
          </a:xfrm>
          <a:prstGeom prst="rect"/>
          <a:noFill/>
          <a:ln w="12700" cmpd="sng" cap="flat">
            <a:noFill/>
            <a:prstDash val="solid"/>
            <a:miter/>
          </a:ln>
        </p:spPr>
        <p:txBody>
          <a:bodyPr vert="horz" wrap="square" lIns="1016" tIns="1016" rIns="1016" bIns="1016" anchor="t" anchorCtr="0">
            <a:prstTxWarp prst="textNoShape"/>
          </a:bodyPr>
          <a:lstStyle/>
          <a:p>
            <a:pPr marL="0" indent="0" algn="l">
              <a:lnSpc>
                <a:spcPct val="100000"/>
              </a:lnSpc>
              <a:spcBef>
                <a:spcPts val="0"/>
              </a:spcBef>
              <a:spcAft>
                <a:spcPts val="0"/>
              </a:spcAft>
              <a:buNone/>
            </a:pPr>
            <a:r>
              <a:rPr lang="en-US" altLang="zh-CN" sz="2000" b="1" i="0" u="none" strike="noStrike" kern="1200" cap="none" spc="0" baseline="0">
                <a:solidFill>
                  <a:srgbClr val="365A50"/>
                </a:solidFill>
                <a:latin typeface="Aptos" pitchFamily="0" charset="0"/>
                <a:ea typeface="Aptos" pitchFamily="0" charset="0"/>
                <a:cs typeface="Aptos" pitchFamily="0" charset="0"/>
              </a:rPr>
              <a:t>What is the overarching problem with the main character’s use of summative-based formative assessment?</a:t>
            </a:r>
            <a:endParaRPr lang="zh-CN" altLang="en-US" sz="2000" b="0" i="0" u="none" strike="noStrike" kern="1200" cap="none" spc="0" baseline="0">
              <a:solidFill>
                <a:schemeClr val="tx1"/>
              </a:solidFill>
              <a:latin typeface="Aptos" pitchFamily="0" charset="0"/>
              <a:ea typeface="等线" pitchFamily="0" charset="0"/>
              <a:cs typeface="Aptos" pitchFamily="0" charset="0"/>
            </a:endParaRPr>
          </a:p>
        </p:txBody>
      </p:sp>
      <p:sp>
        <p:nvSpPr>
          <p:cNvPr id="45" name="Straight line"/>
          <p:cNvSpPr>
            <a:spLocks/>
          </p:cNvSpPr>
          <p:nvPr/>
        </p:nvSpPr>
        <p:spPr>
          <a:xfrm rot="0">
            <a:off x="777240" y="2240280"/>
            <a:ext cx="10607040" cy="0"/>
          </a:xfrm>
          <a:prstGeom prst="line"/>
          <a:noFill/>
          <a:ln w="12700" cmpd="sng" cap="flat">
            <a:solidFill>
              <a:srgbClr val="E4D3B9"/>
            </a:solidFill>
            <a:prstDash val="solid"/>
            <a:round/>
          </a:ln>
        </p:spPr>
      </p:sp>
      <p:sp>
        <p:nvSpPr>
          <p:cNvPr id="46" name="Rectangles"/>
          <p:cNvSpPr>
            <a:spLocks/>
          </p:cNvSpPr>
          <p:nvPr/>
        </p:nvSpPr>
        <p:spPr>
          <a:xfrm rot="0">
            <a:off x="822960" y="2633472"/>
            <a:ext cx="2971800" cy="502920"/>
          </a:xfrm>
          <a:prstGeom prst="rect"/>
          <a:solidFill>
            <a:srgbClr val="EADCC9"/>
          </a:solidFill>
          <a:ln w="12700" cmpd="sng" cap="flat">
            <a:solidFill>
              <a:srgbClr val="EADCC9"/>
            </a:solidFill>
            <a:prstDash val="solid"/>
            <a:round/>
          </a:ln>
        </p:spPr>
        <p:txBody>
          <a:bodyPr vert="horz" wrap="square" lIns="635" tIns="635" rIns="635" bIns="635" anchor="ctr" anchorCtr="0">
            <a:prstTxWarp prst="textNoShape"/>
          </a:bodyPr>
          <a:lstStyle/>
          <a:p>
            <a:pPr marL="0" indent="0" algn="ctr">
              <a:lnSpc>
                <a:spcPct val="100000"/>
              </a:lnSpc>
              <a:spcBef>
                <a:spcPts val="0"/>
              </a:spcBef>
              <a:spcAft>
                <a:spcPts val="0"/>
              </a:spcAft>
              <a:buNone/>
            </a:pPr>
            <a:r>
              <a:rPr lang="en-US" altLang="zh-CN" sz="1500" b="1" i="0" u="none" strike="noStrike" kern="1200" cap="none" spc="0" baseline="0">
                <a:solidFill>
                  <a:srgbClr val="365A50"/>
                </a:solidFill>
                <a:latin typeface="Aptos" pitchFamily="0" charset="0"/>
                <a:ea typeface="等线" pitchFamily="0" charset="0"/>
                <a:cs typeface="Aptos" pitchFamily="0" charset="0"/>
              </a:rPr>
              <a:t>Overreliance on past evidence</a:t>
            </a:r>
            <a:endParaRPr lang="zh-CN" altLang="en-US" sz="1500" b="0" i="0" u="none" strike="noStrike" kern="1200" cap="none" spc="0" baseline="0">
              <a:solidFill>
                <a:schemeClr val="tx1"/>
              </a:solidFill>
              <a:latin typeface="Aptos" pitchFamily="0" charset="0"/>
              <a:ea typeface="等线" pitchFamily="0" charset="0"/>
              <a:cs typeface="Aptos" pitchFamily="0" charset="0"/>
            </a:endParaRPr>
          </a:p>
        </p:txBody>
      </p:sp>
      <p:sp>
        <p:nvSpPr>
          <p:cNvPr id="47" name="Rectangles"/>
          <p:cNvSpPr>
            <a:spLocks/>
          </p:cNvSpPr>
          <p:nvPr/>
        </p:nvSpPr>
        <p:spPr>
          <a:xfrm rot="0">
            <a:off x="4160520" y="2633472"/>
            <a:ext cx="2926080" cy="502920"/>
          </a:xfrm>
          <a:prstGeom prst="rect"/>
          <a:solidFill>
            <a:srgbClr val="DDE9DB"/>
          </a:solidFill>
          <a:ln w="12700" cmpd="sng" cap="flat">
            <a:solidFill>
              <a:srgbClr val="DDE9DB"/>
            </a:solidFill>
            <a:prstDash val="solid"/>
            <a:round/>
          </a:ln>
        </p:spPr>
        <p:txBody>
          <a:bodyPr vert="horz" wrap="square" lIns="635" tIns="635" rIns="635" bIns="635" anchor="ctr" anchorCtr="0">
            <a:prstTxWarp prst="textNoShape"/>
          </a:bodyPr>
          <a:lstStyle/>
          <a:p>
            <a:pPr marL="0" indent="0" algn="ctr">
              <a:lnSpc>
                <a:spcPct val="100000"/>
              </a:lnSpc>
              <a:spcBef>
                <a:spcPts val="0"/>
              </a:spcBef>
              <a:spcAft>
                <a:spcPts val="0"/>
              </a:spcAft>
              <a:buNone/>
            </a:pPr>
            <a:r>
              <a:rPr lang="en-US" altLang="zh-CN" sz="1500" b="1" i="0" u="none" strike="noStrike" kern="1200" cap="none" spc="0" baseline="0">
                <a:solidFill>
                  <a:srgbClr val="365A50"/>
                </a:solidFill>
                <a:latin typeface="Aptos" pitchFamily="0" charset="0"/>
                <a:ea typeface="等线" pitchFamily="0" charset="0"/>
                <a:cs typeface="Aptos" pitchFamily="0" charset="0"/>
              </a:rPr>
              <a:t>Uneven real-time checking</a:t>
            </a:r>
            <a:endParaRPr lang="zh-CN" altLang="en-US" sz="1500" b="0" i="0" u="none" strike="noStrike" kern="1200" cap="none" spc="0" baseline="0">
              <a:solidFill>
                <a:schemeClr val="tx1"/>
              </a:solidFill>
              <a:latin typeface="Aptos" pitchFamily="0" charset="0"/>
              <a:ea typeface="等线" pitchFamily="0" charset="0"/>
              <a:cs typeface="Aptos" pitchFamily="0" charset="0"/>
            </a:endParaRPr>
          </a:p>
        </p:txBody>
      </p:sp>
      <p:sp>
        <p:nvSpPr>
          <p:cNvPr id="48" name="Rectangles"/>
          <p:cNvSpPr>
            <a:spLocks/>
          </p:cNvSpPr>
          <p:nvPr/>
        </p:nvSpPr>
        <p:spPr>
          <a:xfrm rot="0">
            <a:off x="7452360" y="2633472"/>
            <a:ext cx="3337560" cy="502920"/>
          </a:xfrm>
          <a:prstGeom prst="rect"/>
          <a:solidFill>
            <a:srgbClr val="F1D6C6"/>
          </a:solidFill>
          <a:ln w="12700" cmpd="sng" cap="flat">
            <a:solidFill>
              <a:srgbClr val="F1D6C6"/>
            </a:solidFill>
            <a:prstDash val="solid"/>
            <a:round/>
          </a:ln>
        </p:spPr>
        <p:txBody>
          <a:bodyPr vert="horz" wrap="square" lIns="635" tIns="635" rIns="635" bIns="635" anchor="ctr" anchorCtr="0">
            <a:prstTxWarp prst="textNoShape"/>
          </a:bodyPr>
          <a:lstStyle/>
          <a:p>
            <a:pPr marL="0" indent="0" algn="ctr">
              <a:lnSpc>
                <a:spcPct val="100000"/>
              </a:lnSpc>
              <a:spcBef>
                <a:spcPts val="0"/>
              </a:spcBef>
              <a:spcAft>
                <a:spcPts val="0"/>
              </a:spcAft>
              <a:buNone/>
            </a:pPr>
            <a:r>
              <a:rPr lang="en-US" altLang="zh-CN" sz="1500" b="1" i="0" u="none" strike="noStrike" kern="1200" cap="none" spc="0" baseline="0">
                <a:solidFill>
                  <a:srgbClr val="365A50"/>
                </a:solidFill>
                <a:latin typeface="Aptos" pitchFamily="0" charset="0"/>
                <a:ea typeface="等线" pitchFamily="0" charset="0"/>
                <a:cs typeface="Aptos" pitchFamily="0" charset="0"/>
              </a:rPr>
              <a:t>Misconceptions may be missed</a:t>
            </a:r>
            <a:endParaRPr lang="zh-CN" altLang="en-US" sz="1500" b="0" i="0" u="none" strike="noStrike" kern="1200" cap="none" spc="0" baseline="0">
              <a:solidFill>
                <a:schemeClr val="tx1"/>
              </a:solidFill>
              <a:latin typeface="Aptos" pitchFamily="0" charset="0"/>
              <a:ea typeface="等线" pitchFamily="0" charset="0"/>
              <a:cs typeface="Aptos" pitchFamily="0" charset="0"/>
            </a:endParaRPr>
          </a:p>
        </p:txBody>
      </p:sp>
      <p:sp>
        <p:nvSpPr>
          <p:cNvPr id="49" name="Rectangles"/>
          <p:cNvSpPr>
            <a:spLocks/>
          </p:cNvSpPr>
          <p:nvPr/>
        </p:nvSpPr>
        <p:spPr>
          <a:xfrm rot="0">
            <a:off x="841248" y="3584448"/>
            <a:ext cx="1005839" cy="256031"/>
          </a:xfrm>
          <a:prstGeom prst="rect"/>
          <a:noFill/>
          <a:ln w="12700" cmpd="sng" cap="flat">
            <a:noFill/>
            <a:prstDash val="solid"/>
            <a:miter/>
          </a:ln>
        </p:spPr>
        <p:txBody>
          <a:bodyPr vert="horz" wrap="square" lIns="1016" tIns="1016" rIns="1016" bIns="1016" anchor="t" anchorCtr="0">
            <a:prstTxWarp prst="textNoShape"/>
          </a:bodyPr>
          <a:lstStyle/>
          <a:p>
            <a:pPr marL="0" indent="0" algn="l">
              <a:lnSpc>
                <a:spcPct val="100000"/>
              </a:lnSpc>
              <a:spcBef>
                <a:spcPts val="0"/>
              </a:spcBef>
              <a:spcAft>
                <a:spcPts val="0"/>
              </a:spcAft>
              <a:buNone/>
            </a:pPr>
            <a:r>
              <a:rPr lang="en-US" altLang="zh-CN" sz="1500" b="1" i="0" u="none" strike="noStrike" kern="1200" cap="none" spc="0" baseline="0">
                <a:solidFill>
                  <a:srgbClr val="C7795C"/>
                </a:solidFill>
                <a:latin typeface="Aptos" pitchFamily="0" charset="0"/>
                <a:ea typeface="Aptos" pitchFamily="0" charset="0"/>
                <a:cs typeface="Aptos" pitchFamily="0" charset="0"/>
              </a:rPr>
              <a:t>Answer:</a:t>
            </a:r>
            <a:endParaRPr lang="zh-CN" altLang="en-US" sz="1500" b="0" i="0" u="none" strike="noStrike" kern="1200" cap="none" spc="0" baseline="0">
              <a:solidFill>
                <a:schemeClr val="tx1"/>
              </a:solidFill>
              <a:latin typeface="Aptos" pitchFamily="0" charset="0"/>
              <a:ea typeface="等线" pitchFamily="0" charset="0"/>
              <a:cs typeface="Aptos" pitchFamily="0" charset="0"/>
            </a:endParaRPr>
          </a:p>
        </p:txBody>
      </p:sp>
      <p:sp>
        <p:nvSpPr>
          <p:cNvPr id="50" name="Rectangles"/>
          <p:cNvSpPr>
            <a:spLocks/>
          </p:cNvSpPr>
          <p:nvPr/>
        </p:nvSpPr>
        <p:spPr>
          <a:xfrm rot="0">
            <a:off x="868680" y="3913632"/>
            <a:ext cx="10561320" cy="1371599"/>
          </a:xfrm>
          <a:prstGeom prst="rect"/>
          <a:noFill/>
          <a:ln w="12700" cmpd="sng" cap="flat">
            <a:noFill/>
            <a:prstDash val="solid"/>
            <a:miter/>
          </a:ln>
        </p:spPr>
        <p:txBody>
          <a:bodyPr vert="horz" wrap="square" lIns="1016" tIns="1016" rIns="1016" bIns="1016" anchor="t" anchorCtr="0">
            <a:prstTxWarp prst="textNoShape"/>
          </a:bodyPr>
          <a:lstStyle/>
          <a:p>
            <a:pPr marL="0" indent="0" algn="l">
              <a:lnSpc>
                <a:spcPct val="100000"/>
              </a:lnSpc>
              <a:spcBef>
                <a:spcPts val="0"/>
              </a:spcBef>
              <a:spcAft>
                <a:spcPts val="0"/>
              </a:spcAft>
              <a:buNone/>
            </a:pPr>
            <a:r>
              <a:rPr lang="en-US" altLang="zh-CN" sz="1900" b="0" i="0" u="none" strike="noStrike" kern="1200" cap="none" spc="0" baseline="0">
                <a:solidFill>
                  <a:srgbClr val="2B2B2B"/>
                </a:solidFill>
                <a:latin typeface="Aptos" pitchFamily="0" charset="0"/>
                <a:ea typeface="Aptos" pitchFamily="0" charset="0"/>
                <a:cs typeface="Aptos" pitchFamily="0" charset="0"/>
              </a:rPr>
              <a:t>Madison relies heavily on previous observations and past performance when grouping students instead of consistently checking understanding during the lesson itself. Even with flexible grouping, she does not always assess all learners in real time—especially those who already seem to understand. As a result, some misconceptions can go unnoticed, and support may not match students’ present needs.</a:t>
            </a:r>
            <a:endParaRPr lang="zh-CN" altLang="en-US" sz="1900" b="0" i="0" u="none" strike="noStrike" kern="1200" cap="none" spc="0" baseline="0">
              <a:solidFill>
                <a:schemeClr val="tx1"/>
              </a:solidFill>
              <a:latin typeface="Aptos" pitchFamily="0" charset="0"/>
              <a:ea typeface="等线" pitchFamily="0" charset="0"/>
              <a:cs typeface="Aptos" pitchFamily="0" charset="0"/>
            </a:endParaRPr>
          </a:p>
        </p:txBody>
      </p:sp>
      <p:sp>
        <p:nvSpPr>
          <p:cNvPr id="51" name="Rectangles"/>
          <p:cNvSpPr>
            <a:spLocks noGrp="1"/>
          </p:cNvSpPr>
          <p:nvPr>
            <p:ph type="sldNum"/>
          </p:nvPr>
        </p:nvSpPr>
        <p:spPr>
          <a:xfrm rot="0">
            <a:off x="11064240" y="6419087"/>
            <a:ext cx="548639" cy="228600"/>
          </a:xfrm>
          <a:prstGeom prst="rect"/>
          <a:noFill/>
          <a:ln cmpd="sng" cap="flat">
            <a:noFill/>
            <a:prstDash val="solid"/>
            <a:miter/>
          </a:ln>
        </p:spPr>
        <p:txBody>
          <a:bodyPr vert="horz" wrap="none" lIns="-12700" tIns="-12700" rIns="-12700" bIns="-12700" anchor="t" anchorCtr="0">
            <a:prstTxWarp prst="textNoShape"/>
          </a:bodyPr>
          <a:lstStyle/>
          <a:p>
            <a:pPr marL="0" indent="0" algn="l">
              <a:lnSpc>
                <a:spcPct val="100000"/>
              </a:lnSpc>
              <a:spcBef>
                <a:spcPts val="0"/>
              </a:spcBef>
              <a:spcAft>
                <a:spcPts val="0"/>
              </a:spcAft>
              <a:buNone/>
            </a:pPr>
            <a:fld id="{CAD2D6BD-DE1B-4B5F-8B41-2702339687B9}" type="slidenum">
              <a:rPr lang="en-US" altLang="zh-CN" sz="750" b="0" i="0" u="none" strike="noStrike" kern="1200" cap="none" spc="0" baseline="0">
                <a:solidFill>
                  <a:srgbClr val="80613D"/>
                </a:solidFill>
                <a:latin typeface="Aptos" pitchFamily="0" charset="0"/>
                <a:ea typeface="Aptos" pitchFamily="0" charset="0"/>
                <a:cs typeface="Aptos" pitchFamily="0" charset="0"/>
              </a:rPr>
              <a:t>3</a:t>
            </a:fld>
            <a:endParaRPr lang="zh-CN" altLang="en-US" sz="750" b="0" i="0" u="none" strike="noStrike" kern="1200" cap="none" spc="0" baseline="0">
              <a:solidFill>
                <a:srgbClr val="80613D"/>
              </a:solidFill>
              <a:latin typeface="Aptos" pitchFamily="0" charset="0"/>
              <a:ea typeface="Aptos" pitchFamily="0" charset="0"/>
              <a:cs typeface="Aptos" pitchFamily="0" charset="0"/>
            </a:endParaRPr>
          </a:p>
        </p:txBody>
      </p:sp>
    </p:spTree>
    <p:extLst>
      <p:ext uri="{BB962C8B-B14F-4D97-AF65-F5344CB8AC3E}">
        <p14:creationId xmlns:p14="http://schemas.microsoft.com/office/powerpoint/2010/main" val="1417687006"/>
      </p:ext>
    </p:extLst>
  </p:cSld>
  <p:clrMapOvr>
    <a:masterClrMapping/>
  </p:clrMapOvr>
</p:sld>
</file>

<file path=ppt/slides/slide4.xml><?xml version="1.0" encoding="utf-8"?>
<p:sld xmlns:p="http://schemas.openxmlformats.org/presentationml/2006/main" xmlns:r="http://schemas.openxmlformats.org/officeDocument/2006/relationships" xmlns:a="http://schemas.openxmlformats.org/drawingml/2006/main">
  <p:cSld>
    <p:bg>
      <p:bgPr>
        <a:solidFill>
          <a:srgbClr val="F8F2E7"/>
        </a:solidFill>
      </p:bgPr>
    </p:bg>
    <p:spTree>
      <p:nvGrpSpPr>
        <p:cNvPr id="1" name=""/>
        <p:cNvGrpSpPr/>
        <p:nvPr/>
      </p:nvGrpSpPr>
      <p:grpSpPr>
        <a:xfrm>
          <a:off x="0" y="0"/>
          <a:ext cx="0" cy="0"/>
          <a:chOff x="0" y="0"/>
          <a:chExt cx="0" cy="0"/>
        </a:xfrm>
      </p:grpSpPr>
      <p:sp>
        <p:nvSpPr>
          <p:cNvPr id="84" name="Rectangles"/>
          <p:cNvSpPr>
            <a:spLocks/>
          </p:cNvSpPr>
          <p:nvPr/>
        </p:nvSpPr>
        <p:spPr>
          <a:xfrm rot="0">
            <a:off x="658368" y="713232"/>
            <a:ext cx="10698479" cy="54864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3000" b="1" i="0" u="none" strike="noStrike" kern="1200" cap="none" spc="0" baseline="0">
                <a:solidFill>
                  <a:srgbClr val="365A50"/>
                </a:solidFill>
                <a:latin typeface="Aptos" pitchFamily="0" charset="0"/>
                <a:ea typeface="等线" pitchFamily="0" charset="0"/>
                <a:cs typeface="Aptos" pitchFamily="0" charset="0"/>
              </a:rPr>
              <a:t>Detailed Case Analysis</a:t>
            </a:r>
            <a:endParaRPr lang="zh-CN" altLang="en-US" sz="3000" b="0" i="0" u="none" strike="noStrike" kern="1200" cap="none" spc="0" baseline="0">
              <a:solidFill>
                <a:schemeClr val="tx1"/>
              </a:solidFill>
              <a:latin typeface="Aptos" pitchFamily="0" charset="0"/>
              <a:ea typeface="等线" pitchFamily="0" charset="0"/>
              <a:cs typeface="Aptos" pitchFamily="0" charset="0"/>
            </a:endParaRPr>
          </a:p>
        </p:txBody>
      </p:sp>
      <p:sp>
        <p:nvSpPr>
          <p:cNvPr id="85" name="Straight line"/>
          <p:cNvSpPr>
            <a:spLocks/>
          </p:cNvSpPr>
          <p:nvPr/>
        </p:nvSpPr>
        <p:spPr>
          <a:xfrm rot="0">
            <a:off x="685800" y="1399032"/>
            <a:ext cx="1920240" cy="0"/>
          </a:xfrm>
          <a:prstGeom prst="line"/>
          <a:noFill/>
          <a:ln w="38100" cmpd="sng" cap="flat">
            <a:solidFill>
              <a:srgbClr val="D8A15D"/>
            </a:solidFill>
            <a:prstDash val="solid"/>
            <a:round/>
          </a:ln>
        </p:spPr>
      </p:sp>
      <p:sp>
        <p:nvSpPr>
          <p:cNvPr id="86" name="Rectangles"/>
          <p:cNvSpPr>
            <a:spLocks/>
          </p:cNvSpPr>
          <p:nvPr/>
        </p:nvSpPr>
        <p:spPr>
          <a:xfrm rot="0">
            <a:off x="685800" y="1783080"/>
            <a:ext cx="3337560" cy="347472"/>
          </a:xfrm>
          <a:prstGeom prst="rect"/>
          <a:solidFill>
            <a:srgbClr val="FFF9EE"/>
          </a:solidFill>
          <a:ln w="12700" cmpd="sng" cap="flat">
            <a:solidFill>
              <a:srgbClr val="FFF9EE"/>
            </a:solidFill>
            <a:prstDash val="solid"/>
            <a:round/>
          </a:ln>
        </p:spPr>
        <p:txBody>
          <a:bodyPr vert="horz" wrap="square" lIns="1016" tIns="1016" rIns="1016" bIns="1016" anchor="ctr" anchorCtr="0">
            <a:prstTxWarp prst="textNoShape"/>
          </a:bodyPr>
          <a:lstStyle/>
          <a:p>
            <a:pPr marL="0" indent="0" algn="l">
              <a:lnSpc>
                <a:spcPct val="100000"/>
              </a:lnSpc>
              <a:spcBef>
                <a:spcPts val="0"/>
              </a:spcBef>
              <a:spcAft>
                <a:spcPts val="0"/>
              </a:spcAft>
              <a:buNone/>
            </a:pPr>
            <a:r>
              <a:rPr lang="en-US" altLang="zh-CN" sz="1800" b="1" i="0" u="none" strike="noStrike" kern="1200" cap="none" spc="0" baseline="0">
                <a:solidFill>
                  <a:srgbClr val="365A50"/>
                </a:solidFill>
                <a:latin typeface="Aptos" pitchFamily="0" charset="0"/>
                <a:ea typeface="等线" pitchFamily="0" charset="0"/>
                <a:cs typeface="Aptos" pitchFamily="0" charset="0"/>
              </a:rPr>
              <a:t>Evidence from the case</a:t>
            </a:r>
            <a:endParaRPr lang="zh-CN" altLang="en-US" sz="1800" b="0" i="0" u="none" strike="noStrike" kern="1200" cap="none" spc="0" baseline="0">
              <a:solidFill>
                <a:schemeClr val="tx1"/>
              </a:solidFill>
              <a:latin typeface="Aptos" pitchFamily="0" charset="0"/>
              <a:ea typeface="等线" pitchFamily="0" charset="0"/>
              <a:cs typeface="Aptos" pitchFamily="0" charset="0"/>
            </a:endParaRPr>
          </a:p>
        </p:txBody>
      </p:sp>
      <p:sp>
        <p:nvSpPr>
          <p:cNvPr id="87" name="Straight line"/>
          <p:cNvSpPr>
            <a:spLocks/>
          </p:cNvSpPr>
          <p:nvPr/>
        </p:nvSpPr>
        <p:spPr>
          <a:xfrm rot="0">
            <a:off x="749808" y="2176272"/>
            <a:ext cx="3209543" cy="0"/>
          </a:xfrm>
          <a:prstGeom prst="line"/>
          <a:noFill/>
          <a:ln w="25400" cmpd="sng" cap="flat">
            <a:solidFill>
              <a:srgbClr val="D8A15D"/>
            </a:solidFill>
            <a:prstDash val="solid"/>
            <a:round/>
          </a:ln>
        </p:spPr>
      </p:sp>
      <p:sp>
        <p:nvSpPr>
          <p:cNvPr id="88" name="Rectangles"/>
          <p:cNvSpPr>
            <a:spLocks/>
          </p:cNvSpPr>
          <p:nvPr/>
        </p:nvSpPr>
        <p:spPr>
          <a:xfrm rot="0">
            <a:off x="685800" y="2258568"/>
            <a:ext cx="3337560" cy="2331720"/>
          </a:xfrm>
          <a:prstGeom prst="rect"/>
          <a:solidFill>
            <a:srgbClr val="FFF9EE"/>
          </a:solidFill>
          <a:ln w="12700" cmpd="sng" cap="flat">
            <a:solidFill>
              <a:srgbClr val="FFF9EE"/>
            </a:solidFill>
            <a:prstDash val="solid"/>
            <a:round/>
          </a:ln>
        </p:spPr>
        <p:txBody>
          <a:bodyPr vert="horz" wrap="square" lIns="1270" tIns="1270" rIns="1270" bIns="1270" anchor="ctr" anchorCtr="0">
            <a:prstTxWarp prst="textNoShape"/>
          </a:bodyPr>
          <a:lstStyle/>
          <a:p>
            <a:pPr marL="0" indent="0" algn="l">
              <a:lnSpc>
                <a:spcPct val="100000"/>
              </a:lnSpc>
              <a:spcBef>
                <a:spcPts val="0"/>
              </a:spcBef>
              <a:spcAft>
                <a:spcPts val="0"/>
              </a:spcAft>
              <a:buNone/>
            </a:pPr>
            <a:r>
              <a:rPr lang="en-US" altLang="zh-CN" sz="1650" b="0" i="0" u="none" strike="noStrike" kern="1200" cap="none" spc="0" baseline="0">
                <a:solidFill>
                  <a:srgbClr val="2B2B2B"/>
                </a:solidFill>
                <a:latin typeface="Aptos" pitchFamily="0" charset="0"/>
                <a:ea typeface="等线" pitchFamily="0" charset="0"/>
                <a:cs typeface="Aptos" pitchFamily="0" charset="0"/>
              </a:rPr>
              <a:t>Madison groups students using flexible grouping, but she leans on previous observations and past performance.</a:t>
            </a:r>
            <a:endParaRPr lang="zh-CN" altLang="en-US" sz="1650" b="0" i="0" u="none" strike="noStrike" kern="1200" cap="none" spc="0" baseline="0">
              <a:solidFill>
                <a:schemeClr val="tx1"/>
              </a:solidFill>
              <a:latin typeface="Aptos" pitchFamily="0" charset="0"/>
              <a:ea typeface="等线" pitchFamily="0" charset="0"/>
              <a:cs typeface="Aptos" pitchFamily="0" charset="0"/>
            </a:endParaRPr>
          </a:p>
        </p:txBody>
      </p:sp>
      <p:sp>
        <p:nvSpPr>
          <p:cNvPr id="89" name="Rectangles"/>
          <p:cNvSpPr>
            <a:spLocks/>
          </p:cNvSpPr>
          <p:nvPr/>
        </p:nvSpPr>
        <p:spPr>
          <a:xfrm rot="0">
            <a:off x="4434840" y="1783080"/>
            <a:ext cx="3337560" cy="347472"/>
          </a:xfrm>
          <a:prstGeom prst="rect"/>
          <a:solidFill>
            <a:srgbClr val="FFF9EE"/>
          </a:solidFill>
          <a:ln w="12700" cmpd="sng" cap="flat">
            <a:solidFill>
              <a:srgbClr val="FFF9EE"/>
            </a:solidFill>
            <a:prstDash val="solid"/>
            <a:round/>
          </a:ln>
        </p:spPr>
        <p:txBody>
          <a:bodyPr vert="horz" wrap="square" lIns="1016" tIns="1016" rIns="1016" bIns="1016" anchor="ctr" anchorCtr="0">
            <a:prstTxWarp prst="textNoShape"/>
          </a:bodyPr>
          <a:lstStyle/>
          <a:p>
            <a:pPr marL="0" indent="0" algn="l">
              <a:lnSpc>
                <a:spcPct val="100000"/>
              </a:lnSpc>
              <a:spcBef>
                <a:spcPts val="0"/>
              </a:spcBef>
              <a:spcAft>
                <a:spcPts val="0"/>
              </a:spcAft>
              <a:buNone/>
            </a:pPr>
            <a:r>
              <a:rPr lang="en-US" altLang="zh-CN" sz="1800" b="1" i="0" u="none" strike="noStrike" kern="1200" cap="none" spc="0" baseline="0">
                <a:solidFill>
                  <a:srgbClr val="365A50"/>
                </a:solidFill>
                <a:latin typeface="Aptos" pitchFamily="0" charset="0"/>
                <a:ea typeface="等线" pitchFamily="0" charset="0"/>
                <a:cs typeface="Aptos" pitchFamily="0" charset="0"/>
              </a:rPr>
              <a:t>Interpretation</a:t>
            </a:r>
            <a:endParaRPr lang="zh-CN" altLang="en-US" sz="1800" b="0" i="0" u="none" strike="noStrike" kern="1200" cap="none" spc="0" baseline="0">
              <a:solidFill>
                <a:schemeClr val="tx1"/>
              </a:solidFill>
              <a:latin typeface="Aptos" pitchFamily="0" charset="0"/>
              <a:ea typeface="等线" pitchFamily="0" charset="0"/>
              <a:cs typeface="Aptos" pitchFamily="0" charset="0"/>
            </a:endParaRPr>
          </a:p>
        </p:txBody>
      </p:sp>
      <p:sp>
        <p:nvSpPr>
          <p:cNvPr id="90" name="Straight line"/>
          <p:cNvSpPr>
            <a:spLocks/>
          </p:cNvSpPr>
          <p:nvPr/>
        </p:nvSpPr>
        <p:spPr>
          <a:xfrm rot="0">
            <a:off x="4498848" y="2176272"/>
            <a:ext cx="3209544" cy="0"/>
          </a:xfrm>
          <a:prstGeom prst="line"/>
          <a:noFill/>
          <a:ln w="25400" cmpd="sng" cap="flat">
            <a:solidFill>
              <a:srgbClr val="8BA888"/>
            </a:solidFill>
            <a:prstDash val="solid"/>
            <a:round/>
          </a:ln>
        </p:spPr>
      </p:sp>
      <p:sp>
        <p:nvSpPr>
          <p:cNvPr id="91" name="Rectangles"/>
          <p:cNvSpPr>
            <a:spLocks/>
          </p:cNvSpPr>
          <p:nvPr/>
        </p:nvSpPr>
        <p:spPr>
          <a:xfrm rot="0">
            <a:off x="4434840" y="2258568"/>
            <a:ext cx="3337560" cy="2331720"/>
          </a:xfrm>
          <a:prstGeom prst="rect"/>
          <a:solidFill>
            <a:srgbClr val="FFF9EE"/>
          </a:solidFill>
          <a:ln w="12700" cmpd="sng" cap="flat">
            <a:solidFill>
              <a:srgbClr val="FFF9EE"/>
            </a:solidFill>
            <a:prstDash val="solid"/>
            <a:round/>
          </a:ln>
        </p:spPr>
        <p:txBody>
          <a:bodyPr vert="horz" wrap="square" lIns="1270" tIns="1270" rIns="1270" bIns="1270" anchor="ctr" anchorCtr="0">
            <a:prstTxWarp prst="textNoShape"/>
          </a:bodyPr>
          <a:lstStyle/>
          <a:p>
            <a:pPr marL="0" indent="0" algn="l">
              <a:lnSpc>
                <a:spcPct val="100000"/>
              </a:lnSpc>
              <a:spcBef>
                <a:spcPts val="0"/>
              </a:spcBef>
              <a:spcAft>
                <a:spcPts val="0"/>
              </a:spcAft>
              <a:buNone/>
            </a:pPr>
            <a:r>
              <a:rPr lang="en-US" altLang="zh-CN" sz="1650" b="0" i="0" u="none" strike="noStrike" kern="1200" cap="none" spc="0" baseline="0">
                <a:solidFill>
                  <a:srgbClr val="2B2B2B"/>
                </a:solidFill>
                <a:latin typeface="Aptos" pitchFamily="0" charset="0"/>
                <a:ea typeface="等线" pitchFamily="0" charset="0"/>
                <a:cs typeface="Aptos" pitchFamily="0" charset="0"/>
              </a:rPr>
              <a:t>Her assessment is “formative” in intention, but it behaves like a summative judgment when it depends too much on earlier achievement.</a:t>
            </a:r>
            <a:endParaRPr lang="zh-CN" altLang="en-US" sz="1650" b="0" i="0" u="none" strike="noStrike" kern="1200" cap="none" spc="0" baseline="0">
              <a:solidFill>
                <a:schemeClr val="tx1"/>
              </a:solidFill>
              <a:latin typeface="Aptos" pitchFamily="0" charset="0"/>
              <a:ea typeface="等线" pitchFamily="0" charset="0"/>
              <a:cs typeface="Aptos" pitchFamily="0" charset="0"/>
            </a:endParaRPr>
          </a:p>
        </p:txBody>
      </p:sp>
      <p:sp>
        <p:nvSpPr>
          <p:cNvPr id="92" name="Rectangles"/>
          <p:cNvSpPr>
            <a:spLocks/>
          </p:cNvSpPr>
          <p:nvPr/>
        </p:nvSpPr>
        <p:spPr>
          <a:xfrm rot="0">
            <a:off x="8183880" y="1783080"/>
            <a:ext cx="3337559" cy="347472"/>
          </a:xfrm>
          <a:prstGeom prst="rect"/>
          <a:solidFill>
            <a:srgbClr val="FFF9EE"/>
          </a:solidFill>
          <a:ln w="12700" cmpd="sng" cap="flat">
            <a:solidFill>
              <a:srgbClr val="FFF9EE"/>
            </a:solidFill>
            <a:prstDash val="solid"/>
            <a:round/>
          </a:ln>
        </p:spPr>
        <p:txBody>
          <a:bodyPr vert="horz" wrap="square" lIns="1016" tIns="1016" rIns="1016" bIns="1016" anchor="ctr" anchorCtr="0">
            <a:prstTxWarp prst="textNoShape"/>
          </a:bodyPr>
          <a:lstStyle/>
          <a:p>
            <a:pPr marL="0" indent="0" algn="l">
              <a:lnSpc>
                <a:spcPct val="100000"/>
              </a:lnSpc>
              <a:spcBef>
                <a:spcPts val="0"/>
              </a:spcBef>
              <a:spcAft>
                <a:spcPts val="0"/>
              </a:spcAft>
              <a:buNone/>
            </a:pPr>
            <a:r>
              <a:rPr lang="en-US" altLang="zh-CN" sz="1800" b="1" i="0" u="none" strike="noStrike" kern="1200" cap="none" spc="0" baseline="0">
                <a:solidFill>
                  <a:srgbClr val="365A50"/>
                </a:solidFill>
                <a:latin typeface="Aptos" pitchFamily="0" charset="0"/>
                <a:ea typeface="等线" pitchFamily="0" charset="0"/>
                <a:cs typeface="Aptos" pitchFamily="0" charset="0"/>
              </a:rPr>
              <a:t>Possible impact</a:t>
            </a:r>
            <a:endParaRPr lang="zh-CN" altLang="en-US" sz="1800" b="0" i="0" u="none" strike="noStrike" kern="1200" cap="none" spc="0" baseline="0">
              <a:solidFill>
                <a:schemeClr val="tx1"/>
              </a:solidFill>
              <a:latin typeface="Aptos" pitchFamily="0" charset="0"/>
              <a:ea typeface="等线" pitchFamily="0" charset="0"/>
              <a:cs typeface="Aptos" pitchFamily="0" charset="0"/>
            </a:endParaRPr>
          </a:p>
        </p:txBody>
      </p:sp>
      <p:sp>
        <p:nvSpPr>
          <p:cNvPr id="93" name="Straight line"/>
          <p:cNvSpPr>
            <a:spLocks/>
          </p:cNvSpPr>
          <p:nvPr/>
        </p:nvSpPr>
        <p:spPr>
          <a:xfrm rot="0">
            <a:off x="8247887" y="2176272"/>
            <a:ext cx="3209544" cy="0"/>
          </a:xfrm>
          <a:prstGeom prst="line"/>
          <a:noFill/>
          <a:ln w="25400" cmpd="sng" cap="flat">
            <a:solidFill>
              <a:srgbClr val="C7795C"/>
            </a:solidFill>
            <a:prstDash val="solid"/>
            <a:round/>
          </a:ln>
        </p:spPr>
      </p:sp>
      <p:sp>
        <p:nvSpPr>
          <p:cNvPr id="94" name="Rectangles"/>
          <p:cNvSpPr>
            <a:spLocks/>
          </p:cNvSpPr>
          <p:nvPr/>
        </p:nvSpPr>
        <p:spPr>
          <a:xfrm rot="0">
            <a:off x="8183880" y="2258568"/>
            <a:ext cx="3337559" cy="2331720"/>
          </a:xfrm>
          <a:prstGeom prst="rect"/>
          <a:solidFill>
            <a:srgbClr val="FFF9EE"/>
          </a:solidFill>
          <a:ln w="12700" cmpd="sng" cap="flat">
            <a:solidFill>
              <a:srgbClr val="FFF9EE"/>
            </a:solidFill>
            <a:prstDash val="solid"/>
            <a:round/>
          </a:ln>
        </p:spPr>
        <p:txBody>
          <a:bodyPr vert="horz" wrap="square" lIns="1270" tIns="1270" rIns="1270" bIns="1270" anchor="ctr" anchorCtr="0">
            <a:prstTxWarp prst="textNoShape"/>
          </a:bodyPr>
          <a:lstStyle/>
          <a:p>
            <a:pPr marL="0" indent="0" algn="l">
              <a:lnSpc>
                <a:spcPct val="100000"/>
              </a:lnSpc>
              <a:spcBef>
                <a:spcPts val="0"/>
              </a:spcBef>
              <a:spcAft>
                <a:spcPts val="0"/>
              </a:spcAft>
              <a:buNone/>
            </a:pPr>
            <a:r>
              <a:rPr lang="en-US" altLang="zh-CN" sz="1650" b="0" i="0" u="none" strike="noStrike" kern="1200" cap="none" spc="0" baseline="0">
                <a:solidFill>
                  <a:srgbClr val="2B2B2B"/>
                </a:solidFill>
                <a:latin typeface="Aptos" pitchFamily="0" charset="0"/>
                <a:ea typeface="等线" pitchFamily="0" charset="0"/>
                <a:cs typeface="Aptos" pitchFamily="0" charset="0"/>
              </a:rPr>
              <a:t>Students who appear confident may still hold misconceptions. Students needing support may not receive timely help based on present understanding.</a:t>
            </a:r>
            <a:endParaRPr lang="zh-CN" altLang="en-US" sz="1650" b="0" i="0" u="none" strike="noStrike" kern="1200" cap="none" spc="0" baseline="0">
              <a:solidFill>
                <a:schemeClr val="tx1"/>
              </a:solidFill>
              <a:latin typeface="Aptos" pitchFamily="0" charset="0"/>
              <a:ea typeface="等线" pitchFamily="0" charset="0"/>
              <a:cs typeface="Aptos" pitchFamily="0" charset="0"/>
            </a:endParaRPr>
          </a:p>
        </p:txBody>
      </p:sp>
      <p:sp>
        <p:nvSpPr>
          <p:cNvPr id="95" name="Straight line"/>
          <p:cNvSpPr>
            <a:spLocks/>
          </p:cNvSpPr>
          <p:nvPr/>
        </p:nvSpPr>
        <p:spPr>
          <a:xfrm rot="0">
            <a:off x="4114800" y="3154680"/>
            <a:ext cx="228600" cy="0"/>
          </a:xfrm>
          <a:prstGeom prst="line"/>
          <a:noFill/>
          <a:ln w="31750" cmpd="sng" cap="flat">
            <a:solidFill>
              <a:srgbClr val="8BA888"/>
            </a:solidFill>
            <a:prstDash val="solid"/>
            <a:round/>
            <a:tailEnd type="triangle" w="med" len="med"/>
          </a:ln>
        </p:spPr>
      </p:sp>
      <p:sp>
        <p:nvSpPr>
          <p:cNvPr id="96" name="Straight line"/>
          <p:cNvSpPr>
            <a:spLocks/>
          </p:cNvSpPr>
          <p:nvPr/>
        </p:nvSpPr>
        <p:spPr>
          <a:xfrm rot="0">
            <a:off x="7863840" y="3154680"/>
            <a:ext cx="228600" cy="0"/>
          </a:xfrm>
          <a:prstGeom prst="line"/>
          <a:noFill/>
          <a:ln w="31750" cmpd="sng" cap="flat">
            <a:solidFill>
              <a:srgbClr val="8BA888"/>
            </a:solidFill>
            <a:prstDash val="solid"/>
            <a:round/>
            <a:tailEnd type="triangle" w="med" len="med"/>
          </a:ln>
        </p:spPr>
      </p:sp>
      <p:sp>
        <p:nvSpPr>
          <p:cNvPr id="97" name="Rectangles"/>
          <p:cNvSpPr>
            <a:spLocks/>
          </p:cNvSpPr>
          <p:nvPr/>
        </p:nvSpPr>
        <p:spPr>
          <a:xfrm rot="0">
            <a:off x="914400" y="5257800"/>
            <a:ext cx="10378440" cy="548640"/>
          </a:xfrm>
          <a:prstGeom prst="rect"/>
          <a:noFill/>
          <a:ln w="12700" cmpd="sng" cap="flat">
            <a:noFill/>
            <a:prstDash val="solid"/>
            <a:miter/>
          </a:ln>
        </p:spPr>
        <p:txBody>
          <a:bodyPr vert="horz" wrap="square" lIns="1016" tIns="1016" rIns="1016" bIns="1016" anchor="t" anchorCtr="0">
            <a:prstTxWarp prst="textNoShape"/>
          </a:bodyPr>
          <a:lstStyle/>
          <a:p>
            <a:pPr marL="0" indent="0" algn="ctr">
              <a:lnSpc>
                <a:spcPct val="100000"/>
              </a:lnSpc>
              <a:spcBef>
                <a:spcPts val="0"/>
              </a:spcBef>
              <a:spcAft>
                <a:spcPts val="0"/>
              </a:spcAft>
              <a:buNone/>
            </a:pPr>
            <a:r>
              <a:rPr lang="en-US" altLang="zh-CN" sz="1900" b="1" i="0" u="none" strike="noStrike" kern="1200" cap="none" spc="0" baseline="0">
                <a:solidFill>
                  <a:srgbClr val="365A50"/>
                </a:solidFill>
                <a:latin typeface="Aptos" pitchFamily="0" charset="0"/>
                <a:ea typeface="Aptos" pitchFamily="0" charset="0"/>
                <a:cs typeface="Aptos" pitchFamily="0" charset="0"/>
              </a:rPr>
              <a:t>Core judgment: Madison should not stop checking students because they performed well before; every learner deserves current, accurate feedback.</a:t>
            </a:r>
            <a:endParaRPr lang="zh-CN" altLang="en-US" sz="1900" b="0" i="0" u="none" strike="noStrike" kern="1200" cap="none" spc="0" baseline="0">
              <a:solidFill>
                <a:schemeClr val="tx1"/>
              </a:solidFill>
              <a:latin typeface="Aptos" pitchFamily="0" charset="0"/>
              <a:ea typeface="等线" pitchFamily="0" charset="0"/>
              <a:cs typeface="Aptos" pitchFamily="0" charset="0"/>
            </a:endParaRPr>
          </a:p>
        </p:txBody>
      </p:sp>
      <p:sp>
        <p:nvSpPr>
          <p:cNvPr id="98" name="Rectangles"/>
          <p:cNvSpPr>
            <a:spLocks noGrp="1"/>
          </p:cNvSpPr>
          <p:nvPr>
            <p:ph type="sldNum"/>
          </p:nvPr>
        </p:nvSpPr>
        <p:spPr>
          <a:xfrm rot="0">
            <a:off x="11064240" y="6419087"/>
            <a:ext cx="548639" cy="228600"/>
          </a:xfrm>
          <a:prstGeom prst="rect"/>
          <a:noFill/>
          <a:ln cmpd="sng" cap="flat">
            <a:noFill/>
            <a:prstDash val="solid"/>
            <a:miter/>
          </a:ln>
        </p:spPr>
        <p:txBody>
          <a:bodyPr vert="horz" wrap="none" lIns="-12700" tIns="-12700" rIns="-12700" bIns="-12700" anchor="t" anchorCtr="0">
            <a:prstTxWarp prst="textNoShape"/>
          </a:bodyPr>
          <a:lstStyle/>
          <a:p>
            <a:pPr marL="0" indent="0" algn="l">
              <a:lnSpc>
                <a:spcPct val="100000"/>
              </a:lnSpc>
              <a:spcBef>
                <a:spcPts val="0"/>
              </a:spcBef>
              <a:spcAft>
                <a:spcPts val="0"/>
              </a:spcAft>
              <a:buNone/>
            </a:pPr>
            <a:fld id="{CAD2D6BD-DE1B-4B5F-8B41-2702339687B9}" type="slidenum">
              <a:rPr lang="en-US" altLang="zh-CN" sz="750" b="0" i="0" u="none" strike="noStrike" kern="1200" cap="none" spc="0" baseline="0">
                <a:solidFill>
                  <a:srgbClr val="80613D"/>
                </a:solidFill>
                <a:latin typeface="Aptos" pitchFamily="0" charset="0"/>
                <a:ea typeface="Aptos" pitchFamily="0" charset="0"/>
                <a:cs typeface="Aptos" pitchFamily="0" charset="0"/>
              </a:rPr>
              <a:t>4</a:t>
            </a:fld>
            <a:endParaRPr lang="zh-CN" altLang="en-US" sz="750" b="0" i="0" u="none" strike="noStrike" kern="1200" cap="none" spc="0" baseline="0">
              <a:solidFill>
                <a:srgbClr val="80613D"/>
              </a:solidFill>
              <a:latin typeface="Aptos" pitchFamily="0" charset="0"/>
              <a:ea typeface="Aptos" pitchFamily="0" charset="0"/>
              <a:cs typeface="Aptos" pitchFamily="0" charset="0"/>
            </a:endParaRPr>
          </a:p>
        </p:txBody>
      </p:sp>
    </p:spTree>
    <p:extLst>
      <p:ext uri="{BB962C8B-B14F-4D97-AF65-F5344CB8AC3E}">
        <p14:creationId xmlns:p14="http://schemas.microsoft.com/office/powerpoint/2010/main" val="1644390113"/>
      </p:ext>
    </p:extLst>
  </p:cSld>
  <p:clrMapOvr>
    <a:masterClrMapping/>
  </p:clrMapOvr>
</p:sld>
</file>

<file path=ppt/slides/slide5.xml><?xml version="1.0" encoding="utf-8"?>
<p:sld xmlns:p="http://schemas.openxmlformats.org/presentationml/2006/main" xmlns:r="http://schemas.openxmlformats.org/officeDocument/2006/relationships" xmlns:a="http://schemas.openxmlformats.org/drawingml/2006/main">
  <p:cSld>
    <p:bg>
      <p:bgPr>
        <a:solidFill>
          <a:srgbClr val="F8F2E7"/>
        </a:solidFill>
      </p:bgPr>
    </p:bg>
    <p:spTree>
      <p:nvGrpSpPr>
        <p:cNvPr id="1" name=""/>
        <p:cNvGrpSpPr/>
        <p:nvPr/>
      </p:nvGrpSpPr>
      <p:grpSpPr>
        <a:xfrm>
          <a:off x="0" y="0"/>
          <a:ext cx="0" cy="0"/>
          <a:chOff x="0" y="0"/>
          <a:chExt cx="0" cy="0"/>
        </a:xfrm>
      </p:grpSpPr>
      <p:sp>
        <p:nvSpPr>
          <p:cNvPr id="103" name="Rectangles"/>
          <p:cNvSpPr>
            <a:spLocks/>
          </p:cNvSpPr>
          <p:nvPr/>
        </p:nvSpPr>
        <p:spPr>
          <a:xfrm rot="0">
            <a:off x="658368" y="713232"/>
            <a:ext cx="10698479" cy="54864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3000" b="1" i="0" u="none" strike="noStrike" kern="1200" cap="none" spc="0" baseline="0">
                <a:solidFill>
                  <a:srgbClr val="365A50"/>
                </a:solidFill>
                <a:latin typeface="Aptos" pitchFamily="0" charset="0"/>
                <a:ea typeface="等线" pitchFamily="0" charset="0"/>
                <a:cs typeface="Aptos" pitchFamily="0" charset="0"/>
              </a:rPr>
              <a:t>Question 2 and Answer</a:t>
            </a:r>
            <a:endParaRPr lang="zh-CN" altLang="en-US" sz="3000" b="0" i="0" u="none" strike="noStrike" kern="1200" cap="none" spc="0" baseline="0">
              <a:solidFill>
                <a:schemeClr val="tx1"/>
              </a:solidFill>
              <a:latin typeface="Aptos" pitchFamily="0" charset="0"/>
              <a:ea typeface="等线" pitchFamily="0" charset="0"/>
              <a:cs typeface="Aptos" pitchFamily="0" charset="0"/>
            </a:endParaRPr>
          </a:p>
        </p:txBody>
      </p:sp>
      <p:sp>
        <p:nvSpPr>
          <p:cNvPr id="104" name="Straight line"/>
          <p:cNvSpPr>
            <a:spLocks/>
          </p:cNvSpPr>
          <p:nvPr/>
        </p:nvSpPr>
        <p:spPr>
          <a:xfrm rot="0">
            <a:off x="685800" y="1399032"/>
            <a:ext cx="1920240" cy="0"/>
          </a:xfrm>
          <a:prstGeom prst="line"/>
          <a:noFill/>
          <a:ln w="38100" cmpd="sng" cap="flat">
            <a:solidFill>
              <a:srgbClr val="D8A15D"/>
            </a:solidFill>
            <a:prstDash val="solid"/>
            <a:round/>
          </a:ln>
        </p:spPr>
      </p:sp>
      <p:sp>
        <p:nvSpPr>
          <p:cNvPr id="105" name="Rectangles"/>
          <p:cNvSpPr>
            <a:spLocks/>
          </p:cNvSpPr>
          <p:nvPr/>
        </p:nvSpPr>
        <p:spPr>
          <a:xfrm rot="0">
            <a:off x="731520" y="1527047"/>
            <a:ext cx="1005839" cy="256032"/>
          </a:xfrm>
          <a:prstGeom prst="rect"/>
          <a:noFill/>
          <a:ln w="12700" cmpd="sng" cap="flat">
            <a:noFill/>
            <a:prstDash val="solid"/>
            <a:miter/>
          </a:ln>
        </p:spPr>
        <p:txBody>
          <a:bodyPr vert="horz" wrap="square" lIns="1016" tIns="1016" rIns="1016" bIns="1016" anchor="t" anchorCtr="0">
            <a:prstTxWarp prst="textNoShape"/>
          </a:bodyPr>
          <a:lstStyle/>
          <a:p>
            <a:pPr marL="0" indent="0" algn="l">
              <a:lnSpc>
                <a:spcPct val="100000"/>
              </a:lnSpc>
              <a:spcBef>
                <a:spcPts val="0"/>
              </a:spcBef>
              <a:spcAft>
                <a:spcPts val="0"/>
              </a:spcAft>
              <a:buNone/>
            </a:pPr>
            <a:r>
              <a:rPr lang="en-US" altLang="zh-CN" sz="1500" b="1" i="0" u="none" strike="noStrike" kern="1200" cap="none" spc="0" baseline="0">
                <a:solidFill>
                  <a:srgbClr val="C7795C"/>
                </a:solidFill>
                <a:latin typeface="Aptos" pitchFamily="0" charset="0"/>
                <a:ea typeface="Aptos" pitchFamily="0" charset="0"/>
                <a:cs typeface="Aptos" pitchFamily="0" charset="0"/>
              </a:rPr>
              <a:t>Question:</a:t>
            </a:r>
            <a:endParaRPr lang="zh-CN" altLang="en-US" sz="1500" b="0" i="0" u="none" strike="noStrike" kern="1200" cap="none" spc="0" baseline="0">
              <a:solidFill>
                <a:schemeClr val="tx1"/>
              </a:solidFill>
              <a:latin typeface="Aptos" pitchFamily="0" charset="0"/>
              <a:ea typeface="等线" pitchFamily="0" charset="0"/>
              <a:cs typeface="Aptos" pitchFamily="0" charset="0"/>
            </a:endParaRPr>
          </a:p>
        </p:txBody>
      </p:sp>
      <p:sp>
        <p:nvSpPr>
          <p:cNvPr id="106" name="Rectangles"/>
          <p:cNvSpPr>
            <a:spLocks/>
          </p:cNvSpPr>
          <p:nvPr/>
        </p:nvSpPr>
        <p:spPr>
          <a:xfrm rot="0">
            <a:off x="2011679" y="1481328"/>
            <a:ext cx="9509760" cy="457200"/>
          </a:xfrm>
          <a:prstGeom prst="rect"/>
          <a:noFill/>
          <a:ln w="12700" cmpd="sng" cap="flat">
            <a:noFill/>
            <a:prstDash val="solid"/>
            <a:miter/>
          </a:ln>
        </p:spPr>
        <p:txBody>
          <a:bodyPr vert="horz" wrap="square" lIns="1016" tIns="1016" rIns="1016" bIns="1016" anchor="t" anchorCtr="0">
            <a:prstTxWarp prst="textNoShape"/>
          </a:bodyPr>
          <a:lstStyle/>
          <a:p>
            <a:pPr marL="0" indent="0" algn="l">
              <a:lnSpc>
                <a:spcPct val="100000"/>
              </a:lnSpc>
              <a:spcBef>
                <a:spcPts val="0"/>
              </a:spcBef>
              <a:spcAft>
                <a:spcPts val="0"/>
              </a:spcAft>
              <a:buNone/>
            </a:pPr>
            <a:r>
              <a:rPr lang="en-US" altLang="zh-CN" sz="2000" b="1" i="0" u="none" strike="noStrike" kern="1200" cap="none" spc="0" baseline="0">
                <a:solidFill>
                  <a:srgbClr val="365A50"/>
                </a:solidFill>
                <a:latin typeface="Aptos" pitchFamily="0" charset="0"/>
                <a:ea typeface="Aptos" pitchFamily="0" charset="0"/>
                <a:cs typeface="Aptos" pitchFamily="0" charset="0"/>
              </a:rPr>
              <a:t>How would you advise Madison to improve her summative-based formative assessment practices?</a:t>
            </a:r>
            <a:endParaRPr lang="zh-CN" altLang="en-US" sz="2000" b="0" i="0" u="none" strike="noStrike" kern="1200" cap="none" spc="0" baseline="0">
              <a:solidFill>
                <a:schemeClr val="tx1"/>
              </a:solidFill>
              <a:latin typeface="Aptos" pitchFamily="0" charset="0"/>
              <a:ea typeface="等线" pitchFamily="0" charset="0"/>
              <a:cs typeface="Aptos" pitchFamily="0" charset="0"/>
            </a:endParaRPr>
          </a:p>
        </p:txBody>
      </p:sp>
      <p:sp>
        <p:nvSpPr>
          <p:cNvPr id="107" name="Rectangles"/>
          <p:cNvSpPr>
            <a:spLocks/>
          </p:cNvSpPr>
          <p:nvPr/>
        </p:nvSpPr>
        <p:spPr>
          <a:xfrm rot="0">
            <a:off x="655321" y="3432801"/>
            <a:ext cx="1417319" cy="594359"/>
          </a:xfrm>
          <a:prstGeom prst="rect"/>
          <a:solidFill>
            <a:srgbClr val="EADCC9"/>
          </a:solidFill>
          <a:ln w="12700" cmpd="sng" cap="flat">
            <a:solidFill>
              <a:srgbClr val="EADCC9"/>
            </a:solidFill>
            <a:prstDash val="solid"/>
            <a:round/>
          </a:ln>
        </p:spPr>
        <p:txBody>
          <a:bodyPr vert="horz" wrap="square" lIns="635" tIns="635" rIns="635" bIns="635" anchor="ctr" anchorCtr="0">
            <a:prstTxWarp prst="textNoShape"/>
          </a:bodyPr>
          <a:lstStyle/>
          <a:p>
            <a:pPr marL="0" indent="0" algn="ctr">
              <a:lnSpc>
                <a:spcPct val="100000"/>
              </a:lnSpc>
              <a:spcBef>
                <a:spcPts val="0"/>
              </a:spcBef>
              <a:spcAft>
                <a:spcPts val="0"/>
              </a:spcAft>
              <a:buNone/>
            </a:pPr>
            <a:r>
              <a:rPr lang="en-US" altLang="zh-CN" sz="1700" b="1" i="0" u="none" strike="noStrike" kern="1200" cap="none" spc="0" baseline="0">
                <a:solidFill>
                  <a:srgbClr val="365A50"/>
                </a:solidFill>
                <a:latin typeface="Aptos" pitchFamily="0" charset="0"/>
                <a:ea typeface="等线" pitchFamily="0" charset="0"/>
                <a:cs typeface="Aptos" pitchFamily="0" charset="0"/>
              </a:rPr>
              <a:t>Fairness</a:t>
            </a:r>
            <a:endParaRPr lang="zh-CN" altLang="en-US" sz="1700" b="0" i="0" u="none" strike="noStrike" kern="1200" cap="none" spc="0" baseline="0">
              <a:solidFill>
                <a:schemeClr val="tx1"/>
              </a:solidFill>
              <a:latin typeface="Aptos" pitchFamily="0" charset="0"/>
              <a:ea typeface="等线" pitchFamily="0" charset="0"/>
              <a:cs typeface="Aptos" pitchFamily="0" charset="0"/>
            </a:endParaRPr>
          </a:p>
        </p:txBody>
      </p:sp>
      <p:sp>
        <p:nvSpPr>
          <p:cNvPr id="108" name="Rectangles"/>
          <p:cNvSpPr>
            <a:spLocks/>
          </p:cNvSpPr>
          <p:nvPr/>
        </p:nvSpPr>
        <p:spPr>
          <a:xfrm rot="0">
            <a:off x="4251960" y="2837295"/>
            <a:ext cx="1417319" cy="594359"/>
          </a:xfrm>
          <a:prstGeom prst="rect"/>
          <a:solidFill>
            <a:srgbClr val="DDE9DB"/>
          </a:solidFill>
          <a:ln w="12700" cmpd="sng" cap="flat">
            <a:solidFill>
              <a:srgbClr val="DDE9DB"/>
            </a:solidFill>
            <a:prstDash val="solid"/>
            <a:round/>
          </a:ln>
        </p:spPr>
        <p:txBody>
          <a:bodyPr vert="horz" wrap="square" lIns="635" tIns="635" rIns="635" bIns="635" anchor="ctr" anchorCtr="0">
            <a:prstTxWarp prst="textNoShape"/>
          </a:bodyPr>
          <a:lstStyle/>
          <a:p>
            <a:pPr marL="0" indent="0" algn="ctr">
              <a:lnSpc>
                <a:spcPct val="100000"/>
              </a:lnSpc>
              <a:spcBef>
                <a:spcPts val="0"/>
              </a:spcBef>
              <a:spcAft>
                <a:spcPts val="0"/>
              </a:spcAft>
              <a:buNone/>
            </a:pPr>
            <a:r>
              <a:rPr lang="en-US" altLang="zh-CN" sz="1700" b="1" i="0" u="none" strike="noStrike" kern="1200" cap="none" spc="0" baseline="0">
                <a:solidFill>
                  <a:srgbClr val="365A50"/>
                </a:solidFill>
                <a:latin typeface="Aptos" pitchFamily="0" charset="0"/>
                <a:ea typeface="等线" pitchFamily="0" charset="0"/>
                <a:cs typeface="Aptos" pitchFamily="0" charset="0"/>
              </a:rPr>
              <a:t>Empathy</a:t>
            </a:r>
            <a:endParaRPr lang="zh-CN" altLang="en-US" sz="1700" b="0" i="0" u="none" strike="noStrike" kern="1200" cap="none" spc="0" baseline="0">
              <a:solidFill>
                <a:schemeClr val="tx1"/>
              </a:solidFill>
              <a:latin typeface="Aptos" pitchFamily="0" charset="0"/>
              <a:ea typeface="等线" pitchFamily="0" charset="0"/>
              <a:cs typeface="Aptos" pitchFamily="0" charset="0"/>
            </a:endParaRPr>
          </a:p>
        </p:txBody>
      </p:sp>
      <p:sp>
        <p:nvSpPr>
          <p:cNvPr id="109" name="Rectangles"/>
          <p:cNvSpPr>
            <a:spLocks/>
          </p:cNvSpPr>
          <p:nvPr/>
        </p:nvSpPr>
        <p:spPr>
          <a:xfrm rot="0">
            <a:off x="4251960" y="4684380"/>
            <a:ext cx="1417319" cy="594359"/>
          </a:xfrm>
          <a:prstGeom prst="rect"/>
          <a:solidFill>
            <a:srgbClr val="F1D6C6"/>
          </a:solidFill>
          <a:ln w="12700" cmpd="sng" cap="flat">
            <a:solidFill>
              <a:srgbClr val="F1D6C6"/>
            </a:solidFill>
            <a:prstDash val="solid"/>
            <a:round/>
          </a:ln>
        </p:spPr>
        <p:txBody>
          <a:bodyPr vert="horz" wrap="square" lIns="635" tIns="635" rIns="635" bIns="635" anchor="ctr" anchorCtr="0">
            <a:prstTxWarp prst="textNoShape"/>
          </a:bodyPr>
          <a:lstStyle/>
          <a:p>
            <a:pPr marL="0" indent="0" algn="ctr">
              <a:lnSpc>
                <a:spcPct val="100000"/>
              </a:lnSpc>
              <a:spcBef>
                <a:spcPts val="0"/>
              </a:spcBef>
              <a:spcAft>
                <a:spcPts val="0"/>
              </a:spcAft>
              <a:buNone/>
            </a:pPr>
            <a:r>
              <a:rPr lang="en-US" altLang="zh-CN" sz="1700" b="1" i="0" u="none" strike="noStrike" kern="1200" cap="none" spc="0" baseline="0">
                <a:solidFill>
                  <a:srgbClr val="365A50"/>
                </a:solidFill>
                <a:latin typeface="Aptos" pitchFamily="0" charset="0"/>
                <a:ea typeface="等线" pitchFamily="0" charset="0"/>
                <a:cs typeface="Aptos" pitchFamily="0" charset="0"/>
              </a:rPr>
              <a:t>Patience</a:t>
            </a:r>
            <a:endParaRPr lang="zh-CN" altLang="en-US" sz="1700" b="0" i="0" u="none" strike="noStrike" kern="1200" cap="none" spc="0" baseline="0">
              <a:solidFill>
                <a:schemeClr val="tx1"/>
              </a:solidFill>
              <a:latin typeface="Aptos" pitchFamily="0" charset="0"/>
              <a:ea typeface="等线" pitchFamily="0" charset="0"/>
              <a:cs typeface="Aptos" pitchFamily="0" charset="0"/>
            </a:endParaRPr>
          </a:p>
        </p:txBody>
      </p:sp>
      <p:sp>
        <p:nvSpPr>
          <p:cNvPr id="110" name="Rectangles"/>
          <p:cNvSpPr>
            <a:spLocks/>
          </p:cNvSpPr>
          <p:nvPr/>
        </p:nvSpPr>
        <p:spPr>
          <a:xfrm rot="0">
            <a:off x="6172200" y="2048255"/>
            <a:ext cx="914400" cy="256031"/>
          </a:xfrm>
          <a:prstGeom prst="rect"/>
          <a:noFill/>
          <a:ln w="12700" cmpd="sng" cap="flat">
            <a:noFill/>
            <a:prstDash val="solid"/>
            <a:miter/>
          </a:ln>
        </p:spPr>
        <p:txBody>
          <a:bodyPr vert="horz" wrap="square" lIns="1016" tIns="1016" rIns="1016" bIns="1016" anchor="t" anchorCtr="0">
            <a:prstTxWarp prst="textNoShape"/>
          </a:bodyPr>
          <a:lstStyle/>
          <a:p>
            <a:pPr marL="0" indent="0" algn="l">
              <a:lnSpc>
                <a:spcPct val="100000"/>
              </a:lnSpc>
              <a:spcBef>
                <a:spcPts val="0"/>
              </a:spcBef>
              <a:spcAft>
                <a:spcPts val="0"/>
              </a:spcAft>
              <a:buNone/>
            </a:pPr>
            <a:r>
              <a:rPr lang="en-US" altLang="zh-CN" sz="1500" b="1" i="0" u="none" strike="noStrike" kern="1200" cap="none" spc="0" baseline="0">
                <a:solidFill>
                  <a:srgbClr val="C7795C"/>
                </a:solidFill>
                <a:latin typeface="Aptos" pitchFamily="0" charset="0"/>
                <a:ea typeface="Aptos" pitchFamily="0" charset="0"/>
                <a:cs typeface="Aptos" pitchFamily="0" charset="0"/>
              </a:rPr>
              <a:t>Answer:</a:t>
            </a:r>
            <a:endParaRPr lang="zh-CN" altLang="en-US" sz="1500" b="0" i="0" u="none" strike="noStrike" kern="1200" cap="none" spc="0" baseline="0">
              <a:solidFill>
                <a:schemeClr val="tx1"/>
              </a:solidFill>
              <a:latin typeface="Aptos" pitchFamily="0" charset="0"/>
              <a:ea typeface="等线" pitchFamily="0" charset="0"/>
              <a:cs typeface="Aptos" pitchFamily="0" charset="0"/>
            </a:endParaRPr>
          </a:p>
        </p:txBody>
      </p:sp>
      <p:sp>
        <p:nvSpPr>
          <p:cNvPr id="111" name="Rectangles"/>
          <p:cNvSpPr>
            <a:spLocks/>
          </p:cNvSpPr>
          <p:nvPr/>
        </p:nvSpPr>
        <p:spPr>
          <a:xfrm rot="0">
            <a:off x="6172200" y="2395728"/>
            <a:ext cx="5303520" cy="2880360"/>
          </a:xfrm>
          <a:prstGeom prst="rect"/>
          <a:noFill/>
          <a:ln w="12700" cmpd="sng" cap="flat">
            <a:noFill/>
            <a:prstDash val="solid"/>
            <a:miter/>
          </a:ln>
        </p:spPr>
        <p:txBody>
          <a:bodyPr vert="horz" wrap="square" lIns="1016" tIns="1016" rIns="1016" bIns="1016" anchor="t" anchorCtr="0">
            <a:prstTxWarp prst="textNoShape"/>
          </a:bodyPr>
          <a:lstStyle/>
          <a:p>
            <a:pPr marL="0" indent="0" algn="l">
              <a:lnSpc>
                <a:spcPct val="100000"/>
              </a:lnSpc>
              <a:spcBef>
                <a:spcPts val="0"/>
              </a:spcBef>
              <a:spcAft>
                <a:spcPts val="0"/>
              </a:spcAft>
              <a:buNone/>
            </a:pPr>
            <a:r>
              <a:rPr lang="en-US" altLang="zh-CN" sz="1800" b="0" i="0" u="none" strike="noStrike" kern="1200" cap="none" spc="0" baseline="0">
                <a:solidFill>
                  <a:srgbClr val="2B2B2B"/>
                </a:solidFill>
                <a:latin typeface="Aptos" pitchFamily="0" charset="0"/>
                <a:ea typeface="Aptos" pitchFamily="0" charset="0"/>
                <a:cs typeface="Aptos" pitchFamily="0" charset="0"/>
              </a:rPr>
              <a:t>As a Values Education teacher, I would advise Madison to give every student equal opportunities to show understanding during the lesson—not only through past performance. She should continuously observe, ask questions, rotate among groups, and give feedback so no learner is overlooked. She should also create a supportive environment where mistakes are treated as chances to grow, helping students build confidence and a growth mindset.</a:t>
            </a:r>
            <a:endParaRPr lang="zh-CN" altLang="en-US" sz="1800" b="0" i="0" u="none" strike="noStrike" kern="1200" cap="none" spc="0" baseline="0">
              <a:solidFill>
                <a:schemeClr val="tx1"/>
              </a:solidFill>
              <a:latin typeface="Aptos" pitchFamily="0" charset="0"/>
              <a:ea typeface="等线" pitchFamily="0" charset="0"/>
              <a:cs typeface="Aptos" pitchFamily="0" charset="0"/>
            </a:endParaRPr>
          </a:p>
        </p:txBody>
      </p:sp>
      <p:sp>
        <p:nvSpPr>
          <p:cNvPr id="112" name="Rectangles"/>
          <p:cNvSpPr>
            <a:spLocks noGrp="1"/>
          </p:cNvSpPr>
          <p:nvPr>
            <p:ph type="sldNum"/>
          </p:nvPr>
        </p:nvSpPr>
        <p:spPr>
          <a:xfrm rot="0">
            <a:off x="11064240" y="6419087"/>
            <a:ext cx="548639" cy="228600"/>
          </a:xfrm>
          <a:prstGeom prst="rect"/>
          <a:noFill/>
          <a:ln cmpd="sng" cap="flat">
            <a:noFill/>
            <a:prstDash val="solid"/>
            <a:miter/>
          </a:ln>
        </p:spPr>
        <p:txBody>
          <a:bodyPr vert="horz" wrap="none" lIns="-12700" tIns="-12700" rIns="-12700" bIns="-12700" anchor="t" anchorCtr="0">
            <a:prstTxWarp prst="textNoShape"/>
          </a:bodyPr>
          <a:lstStyle/>
          <a:p>
            <a:pPr marL="0" indent="0" algn="l">
              <a:lnSpc>
                <a:spcPct val="100000"/>
              </a:lnSpc>
              <a:spcBef>
                <a:spcPts val="0"/>
              </a:spcBef>
              <a:spcAft>
                <a:spcPts val="0"/>
              </a:spcAft>
              <a:buNone/>
            </a:pPr>
            <a:fld id="{CAD2D6BD-DE1B-4B5F-8B41-2702339687B9}" type="slidenum">
              <a:rPr lang="en-US" altLang="zh-CN" sz="750" b="0" i="0" u="none" strike="noStrike" kern="1200" cap="none" spc="0" baseline="0">
                <a:solidFill>
                  <a:srgbClr val="80613D"/>
                </a:solidFill>
                <a:latin typeface="Aptos" pitchFamily="0" charset="0"/>
                <a:ea typeface="Aptos" pitchFamily="0" charset="0"/>
                <a:cs typeface="Aptos" pitchFamily="0" charset="0"/>
              </a:rPr>
              <a:t>5</a:t>
            </a:fld>
            <a:endParaRPr lang="zh-CN" altLang="en-US" sz="750" b="0" i="0" u="none" strike="noStrike" kern="1200" cap="none" spc="0" baseline="0">
              <a:solidFill>
                <a:srgbClr val="80613D"/>
              </a:solidFill>
              <a:latin typeface="Aptos" pitchFamily="0" charset="0"/>
              <a:ea typeface="Aptos" pitchFamily="0" charset="0"/>
              <a:cs typeface="Aptos" pitchFamily="0" charset="0"/>
            </a:endParaRPr>
          </a:p>
        </p:txBody>
      </p:sp>
    </p:spTree>
    <p:extLst>
      <p:ext uri="{BB962C8B-B14F-4D97-AF65-F5344CB8AC3E}">
        <p14:creationId xmlns:p14="http://schemas.microsoft.com/office/powerpoint/2010/main" val="449448072"/>
      </p:ext>
    </p:extLst>
  </p:cSld>
  <p:clrMapOvr>
    <a:masterClrMapping/>
  </p:clrMapOvr>
</p:sld>
</file>

<file path=ppt/slides/slide6.xml><?xml version="1.0" encoding="utf-8"?>
<p:sld xmlns:p="http://schemas.openxmlformats.org/presentationml/2006/main" xmlns:r="http://schemas.openxmlformats.org/officeDocument/2006/relationships" xmlns:a="http://schemas.openxmlformats.org/drawingml/2006/main">
  <p:cSld>
    <p:bg>
      <p:bgPr>
        <a:solidFill>
          <a:srgbClr val="F8F2E7"/>
        </a:solidFill>
      </p:bgPr>
    </p:bg>
    <p:spTree>
      <p:nvGrpSpPr>
        <p:cNvPr id="1" name=""/>
        <p:cNvGrpSpPr/>
        <p:nvPr/>
      </p:nvGrpSpPr>
      <p:grpSpPr>
        <a:xfrm>
          <a:off x="0" y="0"/>
          <a:ext cx="0" cy="0"/>
          <a:chOff x="0" y="0"/>
          <a:chExt cx="0" cy="0"/>
        </a:xfrm>
      </p:grpSpPr>
      <p:sp>
        <p:nvSpPr>
          <p:cNvPr id="116" name="Rectangles"/>
          <p:cNvSpPr>
            <a:spLocks/>
          </p:cNvSpPr>
          <p:nvPr/>
        </p:nvSpPr>
        <p:spPr>
          <a:xfrm rot="0">
            <a:off x="685800" y="411480"/>
            <a:ext cx="3474720" cy="256031"/>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200" b="1" i="0" u="none" strike="noStrike" kern="1200" cap="none" spc="0" baseline="0">
                <a:solidFill>
                  <a:srgbClr val="C7795C"/>
                </a:solidFill>
                <a:latin typeface="Aptos" pitchFamily="0" charset="0"/>
                <a:ea typeface="等线" pitchFamily="0" charset="0"/>
                <a:cs typeface="Aptos" pitchFamily="0" charset="0"/>
              </a:rPr>
              <a:t>Before • During • After</a:t>
            </a:r>
            <a:endParaRPr lang="zh-CN" altLang="en-US" sz="1200" b="0" i="0" u="none" strike="noStrike" kern="1200" cap="none" spc="0" baseline="0">
              <a:solidFill>
                <a:schemeClr val="tx1"/>
              </a:solidFill>
              <a:latin typeface="Aptos" pitchFamily="0" charset="0"/>
              <a:ea typeface="等线" pitchFamily="0" charset="0"/>
              <a:cs typeface="Aptos" pitchFamily="0" charset="0"/>
            </a:endParaRPr>
          </a:p>
        </p:txBody>
      </p:sp>
      <p:sp>
        <p:nvSpPr>
          <p:cNvPr id="117" name="Rectangles"/>
          <p:cNvSpPr>
            <a:spLocks/>
          </p:cNvSpPr>
          <p:nvPr/>
        </p:nvSpPr>
        <p:spPr>
          <a:xfrm rot="0">
            <a:off x="658368" y="713232"/>
            <a:ext cx="10698479" cy="54864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3000" b="1" i="0" u="none" strike="noStrike" kern="1200" cap="none" spc="0" baseline="0">
                <a:solidFill>
                  <a:srgbClr val="365A50"/>
                </a:solidFill>
                <a:latin typeface="Aptos" pitchFamily="0" charset="0"/>
                <a:ea typeface="等线" pitchFamily="0" charset="0"/>
                <a:cs typeface="Aptos" pitchFamily="0" charset="0"/>
              </a:rPr>
              <a:t>Improvement Plan for Madison</a:t>
            </a:r>
            <a:endParaRPr lang="zh-CN" altLang="en-US" sz="3000" b="0" i="0" u="none" strike="noStrike" kern="1200" cap="none" spc="0" baseline="0">
              <a:solidFill>
                <a:schemeClr val="tx1"/>
              </a:solidFill>
              <a:latin typeface="Aptos" pitchFamily="0" charset="0"/>
              <a:ea typeface="等线" pitchFamily="0" charset="0"/>
              <a:cs typeface="Aptos" pitchFamily="0" charset="0"/>
            </a:endParaRPr>
          </a:p>
        </p:txBody>
      </p:sp>
      <p:sp>
        <p:nvSpPr>
          <p:cNvPr id="118" name="Straight line"/>
          <p:cNvSpPr>
            <a:spLocks/>
          </p:cNvSpPr>
          <p:nvPr/>
        </p:nvSpPr>
        <p:spPr>
          <a:xfrm rot="0">
            <a:off x="685800" y="1399032"/>
            <a:ext cx="1920240" cy="0"/>
          </a:xfrm>
          <a:prstGeom prst="line"/>
          <a:noFill/>
          <a:ln w="38100" cmpd="sng" cap="flat">
            <a:solidFill>
              <a:srgbClr val="D8A15D"/>
            </a:solidFill>
            <a:prstDash val="solid"/>
            <a:round/>
          </a:ln>
        </p:spPr>
      </p:sp>
      <p:sp>
        <p:nvSpPr>
          <p:cNvPr id="119" name="Straight line"/>
          <p:cNvSpPr>
            <a:spLocks/>
          </p:cNvSpPr>
          <p:nvPr/>
        </p:nvSpPr>
        <p:spPr>
          <a:xfrm rot="0">
            <a:off x="2560320" y="2788920"/>
            <a:ext cx="1828800" cy="0"/>
          </a:xfrm>
          <a:prstGeom prst="line"/>
          <a:noFill/>
          <a:ln w="38100" cmpd="sng" cap="flat">
            <a:solidFill>
              <a:srgbClr val="D8A15D"/>
            </a:solidFill>
            <a:prstDash val="solid"/>
            <a:round/>
            <a:tailEnd type="triangle" w="med" len="med"/>
          </a:ln>
        </p:spPr>
      </p:sp>
      <p:sp>
        <p:nvSpPr>
          <p:cNvPr id="120" name="Straight line"/>
          <p:cNvSpPr>
            <a:spLocks/>
          </p:cNvSpPr>
          <p:nvPr/>
        </p:nvSpPr>
        <p:spPr>
          <a:xfrm rot="0">
            <a:off x="6035039" y="2788920"/>
            <a:ext cx="1828800" cy="0"/>
          </a:xfrm>
          <a:prstGeom prst="line"/>
          <a:noFill/>
          <a:ln w="38100" cmpd="sng" cap="flat">
            <a:solidFill>
              <a:srgbClr val="D8A15D"/>
            </a:solidFill>
            <a:prstDash val="solid"/>
            <a:round/>
            <a:tailEnd type="triangle" w="med" len="med"/>
          </a:ln>
        </p:spPr>
      </p:sp>
      <p:sp>
        <p:nvSpPr>
          <p:cNvPr id="121" name="Rectangles"/>
          <p:cNvSpPr>
            <a:spLocks/>
          </p:cNvSpPr>
          <p:nvPr/>
        </p:nvSpPr>
        <p:spPr>
          <a:xfrm rot="0">
            <a:off x="685800" y="1965960"/>
            <a:ext cx="2880360" cy="347472"/>
          </a:xfrm>
          <a:prstGeom prst="rect"/>
          <a:solidFill>
            <a:srgbClr val="FFF9EE"/>
          </a:solidFill>
          <a:ln w="12700" cmpd="sng" cap="flat">
            <a:solidFill>
              <a:srgbClr val="FFF9EE"/>
            </a:solidFill>
            <a:prstDash val="solid"/>
            <a:round/>
          </a:ln>
        </p:spPr>
        <p:txBody>
          <a:bodyPr vert="horz" wrap="square" lIns="1016" tIns="1016" rIns="1016" bIns="1016" anchor="ctr" anchorCtr="0">
            <a:prstTxWarp prst="textNoShape"/>
          </a:bodyPr>
          <a:lstStyle/>
          <a:p>
            <a:pPr marL="0" indent="0" algn="l">
              <a:lnSpc>
                <a:spcPct val="100000"/>
              </a:lnSpc>
              <a:spcBef>
                <a:spcPts val="0"/>
              </a:spcBef>
              <a:spcAft>
                <a:spcPts val="0"/>
              </a:spcAft>
              <a:buNone/>
            </a:pPr>
            <a:r>
              <a:rPr lang="en-US" altLang="zh-CN" sz="1800" b="1" i="0" u="none" strike="noStrike" kern="1200" cap="none" spc="0" baseline="0">
                <a:solidFill>
                  <a:srgbClr val="365A50"/>
                </a:solidFill>
                <a:latin typeface="Aptos" pitchFamily="0" charset="0"/>
                <a:ea typeface="等线" pitchFamily="0" charset="0"/>
                <a:cs typeface="Aptos" pitchFamily="0" charset="0"/>
              </a:rPr>
              <a:t>Before the lesson</a:t>
            </a:r>
            <a:endParaRPr lang="zh-CN" altLang="en-US" sz="1800" b="0" i="0" u="none" strike="noStrike" kern="1200" cap="none" spc="0" baseline="0">
              <a:solidFill>
                <a:schemeClr val="tx1"/>
              </a:solidFill>
              <a:latin typeface="Aptos" pitchFamily="0" charset="0"/>
              <a:ea typeface="等线" pitchFamily="0" charset="0"/>
              <a:cs typeface="Aptos" pitchFamily="0" charset="0"/>
            </a:endParaRPr>
          </a:p>
        </p:txBody>
      </p:sp>
      <p:sp>
        <p:nvSpPr>
          <p:cNvPr id="122" name="Straight line"/>
          <p:cNvSpPr>
            <a:spLocks/>
          </p:cNvSpPr>
          <p:nvPr/>
        </p:nvSpPr>
        <p:spPr>
          <a:xfrm rot="0">
            <a:off x="749808" y="2359152"/>
            <a:ext cx="2752344" cy="0"/>
          </a:xfrm>
          <a:prstGeom prst="line"/>
          <a:noFill/>
          <a:ln w="25400" cmpd="sng" cap="flat">
            <a:solidFill>
              <a:srgbClr val="D8A15D"/>
            </a:solidFill>
            <a:prstDash val="solid"/>
            <a:round/>
          </a:ln>
        </p:spPr>
      </p:sp>
      <p:sp>
        <p:nvSpPr>
          <p:cNvPr id="123" name="Rectangles"/>
          <p:cNvSpPr>
            <a:spLocks/>
          </p:cNvSpPr>
          <p:nvPr/>
        </p:nvSpPr>
        <p:spPr>
          <a:xfrm rot="0">
            <a:off x="685800" y="2441447"/>
            <a:ext cx="2880360" cy="1920239"/>
          </a:xfrm>
          <a:prstGeom prst="rect"/>
          <a:solidFill>
            <a:srgbClr val="FFF9EE"/>
          </a:solidFill>
          <a:ln w="12700" cmpd="sng" cap="flat">
            <a:solidFill>
              <a:srgbClr val="FFF9EE"/>
            </a:solidFill>
            <a:prstDash val="solid"/>
            <a:round/>
          </a:ln>
        </p:spPr>
        <p:txBody>
          <a:bodyPr vert="horz" wrap="square" lIns="1270" tIns="1270" rIns="1270" bIns="1270" anchor="ctr" anchorCtr="0">
            <a:prstTxWarp prst="textNoShape"/>
          </a:bodyPr>
          <a:lstStyle/>
          <a:p>
            <a:pPr marL="0" indent="0" algn="l">
              <a:lnSpc>
                <a:spcPct val="100000"/>
              </a:lnSpc>
              <a:spcBef>
                <a:spcPts val="0"/>
              </a:spcBef>
              <a:spcAft>
                <a:spcPts val="0"/>
              </a:spcAft>
              <a:buNone/>
            </a:pPr>
            <a:r>
              <a:rPr lang="en-US" altLang="zh-CN" sz="1650" b="0" i="0" u="none" strike="noStrike" kern="1200" cap="none" spc="0" baseline="0">
                <a:solidFill>
                  <a:srgbClr val="2B2B2B"/>
                </a:solidFill>
                <a:latin typeface="Aptos" pitchFamily="0" charset="0"/>
                <a:ea typeface="等线" pitchFamily="0" charset="0"/>
                <a:cs typeface="Aptos" pitchFamily="0" charset="0"/>
              </a:rPr>
              <a:t>Plan quick checks for understanding. Set clear success criteria. Prepare questions for all groups.</a:t>
            </a:r>
            <a:endParaRPr lang="zh-CN" altLang="en-US" sz="1650" b="0" i="0" u="none" strike="noStrike" kern="1200" cap="none" spc="0" baseline="0">
              <a:solidFill>
                <a:schemeClr val="tx1"/>
              </a:solidFill>
              <a:latin typeface="Aptos" pitchFamily="0" charset="0"/>
              <a:ea typeface="等线" pitchFamily="0" charset="0"/>
              <a:cs typeface="Aptos" pitchFamily="0" charset="0"/>
            </a:endParaRPr>
          </a:p>
        </p:txBody>
      </p:sp>
      <p:sp>
        <p:nvSpPr>
          <p:cNvPr id="124" name="Rectangles"/>
          <p:cNvSpPr>
            <a:spLocks/>
          </p:cNvSpPr>
          <p:nvPr/>
        </p:nvSpPr>
        <p:spPr>
          <a:xfrm rot="0">
            <a:off x="4160520" y="1965960"/>
            <a:ext cx="2880360" cy="347472"/>
          </a:xfrm>
          <a:prstGeom prst="rect"/>
          <a:solidFill>
            <a:srgbClr val="FFF9EE"/>
          </a:solidFill>
          <a:ln w="12700" cmpd="sng" cap="flat">
            <a:solidFill>
              <a:srgbClr val="FFF9EE"/>
            </a:solidFill>
            <a:prstDash val="solid"/>
            <a:round/>
          </a:ln>
        </p:spPr>
        <p:txBody>
          <a:bodyPr vert="horz" wrap="square" lIns="1016" tIns="1016" rIns="1016" bIns="1016" anchor="ctr" anchorCtr="0">
            <a:prstTxWarp prst="textNoShape"/>
          </a:bodyPr>
          <a:lstStyle/>
          <a:p>
            <a:pPr marL="0" indent="0" algn="l">
              <a:lnSpc>
                <a:spcPct val="100000"/>
              </a:lnSpc>
              <a:spcBef>
                <a:spcPts val="0"/>
              </a:spcBef>
              <a:spcAft>
                <a:spcPts val="0"/>
              </a:spcAft>
              <a:buNone/>
            </a:pPr>
            <a:r>
              <a:rPr lang="en-US" altLang="zh-CN" sz="1800" b="1" i="0" u="none" strike="noStrike" kern="1200" cap="none" spc="0" baseline="0">
                <a:solidFill>
                  <a:srgbClr val="365A50"/>
                </a:solidFill>
                <a:latin typeface="Aptos" pitchFamily="0" charset="0"/>
                <a:ea typeface="等线" pitchFamily="0" charset="0"/>
                <a:cs typeface="Aptos" pitchFamily="0" charset="0"/>
              </a:rPr>
              <a:t>During the lesson</a:t>
            </a:r>
            <a:endParaRPr lang="zh-CN" altLang="en-US" sz="1800" b="0" i="0" u="none" strike="noStrike" kern="1200" cap="none" spc="0" baseline="0">
              <a:solidFill>
                <a:schemeClr val="tx1"/>
              </a:solidFill>
              <a:latin typeface="Aptos" pitchFamily="0" charset="0"/>
              <a:ea typeface="等线" pitchFamily="0" charset="0"/>
              <a:cs typeface="Aptos" pitchFamily="0" charset="0"/>
            </a:endParaRPr>
          </a:p>
        </p:txBody>
      </p:sp>
      <p:sp>
        <p:nvSpPr>
          <p:cNvPr id="125" name="Straight line"/>
          <p:cNvSpPr>
            <a:spLocks/>
          </p:cNvSpPr>
          <p:nvPr/>
        </p:nvSpPr>
        <p:spPr>
          <a:xfrm rot="0">
            <a:off x="4224528" y="2359152"/>
            <a:ext cx="2752344" cy="0"/>
          </a:xfrm>
          <a:prstGeom prst="line"/>
          <a:noFill/>
          <a:ln w="25400" cmpd="sng" cap="flat">
            <a:solidFill>
              <a:srgbClr val="8BA888"/>
            </a:solidFill>
            <a:prstDash val="solid"/>
            <a:round/>
          </a:ln>
        </p:spPr>
      </p:sp>
      <p:sp>
        <p:nvSpPr>
          <p:cNvPr id="126" name="Rectangles"/>
          <p:cNvSpPr>
            <a:spLocks/>
          </p:cNvSpPr>
          <p:nvPr/>
        </p:nvSpPr>
        <p:spPr>
          <a:xfrm rot="0">
            <a:off x="4160520" y="2441447"/>
            <a:ext cx="2880360" cy="1920239"/>
          </a:xfrm>
          <a:prstGeom prst="rect"/>
          <a:solidFill>
            <a:srgbClr val="FFF9EE"/>
          </a:solidFill>
          <a:ln w="12700" cmpd="sng" cap="flat">
            <a:solidFill>
              <a:srgbClr val="FFF9EE"/>
            </a:solidFill>
            <a:prstDash val="solid"/>
            <a:round/>
          </a:ln>
        </p:spPr>
        <p:txBody>
          <a:bodyPr vert="horz" wrap="square" lIns="1270" tIns="1270" rIns="1270" bIns="1270" anchor="ctr" anchorCtr="0">
            <a:prstTxWarp prst="textNoShape"/>
          </a:bodyPr>
          <a:lstStyle/>
          <a:p>
            <a:pPr marL="0" indent="0" algn="l">
              <a:lnSpc>
                <a:spcPct val="100000"/>
              </a:lnSpc>
              <a:spcBef>
                <a:spcPts val="0"/>
              </a:spcBef>
              <a:spcAft>
                <a:spcPts val="0"/>
              </a:spcAft>
              <a:buNone/>
            </a:pPr>
            <a:r>
              <a:rPr lang="en-US" altLang="zh-CN" sz="1650" b="0" i="0" u="none" strike="noStrike" kern="1200" cap="none" spc="0" baseline="0">
                <a:solidFill>
                  <a:srgbClr val="2B2B2B"/>
                </a:solidFill>
                <a:latin typeface="Aptos" pitchFamily="0" charset="0"/>
                <a:ea typeface="等线" pitchFamily="0" charset="0"/>
                <a:cs typeface="Aptos" pitchFamily="0" charset="0"/>
              </a:rPr>
              <a:t>Use exit slips, thumbs checks, oral questions, and teacher observation. Rotate to every group—not only struggling groups.</a:t>
            </a:r>
            <a:endParaRPr lang="zh-CN" altLang="en-US" sz="1650" b="0" i="0" u="none" strike="noStrike" kern="1200" cap="none" spc="0" baseline="0">
              <a:solidFill>
                <a:schemeClr val="tx1"/>
              </a:solidFill>
              <a:latin typeface="Aptos" pitchFamily="0" charset="0"/>
              <a:ea typeface="等线" pitchFamily="0" charset="0"/>
              <a:cs typeface="Aptos" pitchFamily="0" charset="0"/>
            </a:endParaRPr>
          </a:p>
        </p:txBody>
      </p:sp>
      <p:sp>
        <p:nvSpPr>
          <p:cNvPr id="127" name="Rectangles"/>
          <p:cNvSpPr>
            <a:spLocks/>
          </p:cNvSpPr>
          <p:nvPr/>
        </p:nvSpPr>
        <p:spPr>
          <a:xfrm rot="0">
            <a:off x="7635240" y="1965960"/>
            <a:ext cx="2880360" cy="347472"/>
          </a:xfrm>
          <a:prstGeom prst="rect"/>
          <a:solidFill>
            <a:srgbClr val="FFF9EE"/>
          </a:solidFill>
          <a:ln w="12700" cmpd="sng" cap="flat">
            <a:solidFill>
              <a:srgbClr val="FFF9EE"/>
            </a:solidFill>
            <a:prstDash val="solid"/>
            <a:round/>
          </a:ln>
        </p:spPr>
        <p:txBody>
          <a:bodyPr vert="horz" wrap="square" lIns="1016" tIns="1016" rIns="1016" bIns="1016" anchor="ctr" anchorCtr="0">
            <a:prstTxWarp prst="textNoShape"/>
          </a:bodyPr>
          <a:lstStyle/>
          <a:p>
            <a:pPr marL="0" indent="0" algn="l">
              <a:lnSpc>
                <a:spcPct val="100000"/>
              </a:lnSpc>
              <a:spcBef>
                <a:spcPts val="0"/>
              </a:spcBef>
              <a:spcAft>
                <a:spcPts val="0"/>
              </a:spcAft>
              <a:buNone/>
            </a:pPr>
            <a:r>
              <a:rPr lang="en-US" altLang="zh-CN" sz="1800" b="1" i="0" u="none" strike="noStrike" kern="1200" cap="none" spc="0" baseline="0">
                <a:solidFill>
                  <a:srgbClr val="365A50"/>
                </a:solidFill>
                <a:latin typeface="Aptos" pitchFamily="0" charset="0"/>
                <a:ea typeface="等线" pitchFamily="0" charset="0"/>
                <a:cs typeface="Aptos" pitchFamily="0" charset="0"/>
              </a:rPr>
              <a:t>After the lesson</a:t>
            </a:r>
            <a:endParaRPr lang="zh-CN" altLang="en-US" sz="1800" b="0" i="0" u="none" strike="noStrike" kern="1200" cap="none" spc="0" baseline="0">
              <a:solidFill>
                <a:schemeClr val="tx1"/>
              </a:solidFill>
              <a:latin typeface="Aptos" pitchFamily="0" charset="0"/>
              <a:ea typeface="等线" pitchFamily="0" charset="0"/>
              <a:cs typeface="Aptos" pitchFamily="0" charset="0"/>
            </a:endParaRPr>
          </a:p>
        </p:txBody>
      </p:sp>
      <p:sp>
        <p:nvSpPr>
          <p:cNvPr id="128" name="Straight line"/>
          <p:cNvSpPr>
            <a:spLocks/>
          </p:cNvSpPr>
          <p:nvPr/>
        </p:nvSpPr>
        <p:spPr>
          <a:xfrm rot="0">
            <a:off x="7699247" y="2359152"/>
            <a:ext cx="2752343" cy="0"/>
          </a:xfrm>
          <a:prstGeom prst="line"/>
          <a:noFill/>
          <a:ln w="25400" cmpd="sng" cap="flat">
            <a:solidFill>
              <a:srgbClr val="C7795C"/>
            </a:solidFill>
            <a:prstDash val="solid"/>
            <a:round/>
          </a:ln>
        </p:spPr>
      </p:sp>
      <p:sp>
        <p:nvSpPr>
          <p:cNvPr id="129" name="Rectangles"/>
          <p:cNvSpPr>
            <a:spLocks/>
          </p:cNvSpPr>
          <p:nvPr/>
        </p:nvSpPr>
        <p:spPr>
          <a:xfrm rot="0">
            <a:off x="7635240" y="2441447"/>
            <a:ext cx="2880360" cy="1920239"/>
          </a:xfrm>
          <a:prstGeom prst="rect"/>
          <a:solidFill>
            <a:srgbClr val="FFF9EE"/>
          </a:solidFill>
          <a:ln w="12700" cmpd="sng" cap="flat">
            <a:solidFill>
              <a:srgbClr val="FFF9EE"/>
            </a:solidFill>
            <a:prstDash val="solid"/>
            <a:round/>
          </a:ln>
        </p:spPr>
        <p:txBody>
          <a:bodyPr vert="horz" wrap="square" lIns="1270" tIns="1270" rIns="1270" bIns="1270" anchor="ctr" anchorCtr="0">
            <a:prstTxWarp prst="textNoShape"/>
          </a:bodyPr>
          <a:lstStyle/>
          <a:p>
            <a:pPr marL="0" indent="0" algn="l">
              <a:lnSpc>
                <a:spcPct val="100000"/>
              </a:lnSpc>
              <a:spcBef>
                <a:spcPts val="0"/>
              </a:spcBef>
              <a:spcAft>
                <a:spcPts val="0"/>
              </a:spcAft>
              <a:buNone/>
            </a:pPr>
            <a:r>
              <a:rPr lang="en-US" altLang="zh-CN" sz="1650" b="0" i="0" u="none" strike="noStrike" kern="1200" cap="none" spc="0" baseline="0">
                <a:solidFill>
                  <a:srgbClr val="2B2B2B"/>
                </a:solidFill>
                <a:latin typeface="Aptos" pitchFamily="0" charset="0"/>
                <a:ea typeface="等线" pitchFamily="0" charset="0"/>
                <a:cs typeface="Aptos" pitchFamily="0" charset="0"/>
              </a:rPr>
              <a:t>Review evidence, adjust groups, give feedback, and plan follow-up support based on present learning needs.</a:t>
            </a:r>
            <a:endParaRPr lang="zh-CN" altLang="en-US" sz="1650" b="0" i="0" u="none" strike="noStrike" kern="1200" cap="none" spc="0" baseline="0">
              <a:solidFill>
                <a:schemeClr val="tx1"/>
              </a:solidFill>
              <a:latin typeface="Aptos" pitchFamily="0" charset="0"/>
              <a:ea typeface="等线" pitchFamily="0" charset="0"/>
              <a:cs typeface="Aptos" pitchFamily="0" charset="0"/>
            </a:endParaRPr>
          </a:p>
        </p:txBody>
      </p:sp>
      <p:sp>
        <p:nvSpPr>
          <p:cNvPr id="130" name="Rectangles"/>
          <p:cNvSpPr>
            <a:spLocks/>
          </p:cNvSpPr>
          <p:nvPr/>
        </p:nvSpPr>
        <p:spPr>
          <a:xfrm rot="0">
            <a:off x="1005839" y="5230368"/>
            <a:ext cx="9966960" cy="457200"/>
          </a:xfrm>
          <a:prstGeom prst="rect"/>
          <a:noFill/>
          <a:ln w="12700" cmpd="sng" cap="flat">
            <a:noFill/>
            <a:prstDash val="solid"/>
            <a:miter/>
          </a:ln>
        </p:spPr>
        <p:txBody>
          <a:bodyPr vert="horz" wrap="square" lIns="1016" tIns="1016" rIns="1016" bIns="1016" anchor="t" anchorCtr="0">
            <a:prstTxWarp prst="textNoShape"/>
          </a:bodyPr>
          <a:lstStyle/>
          <a:p>
            <a:pPr marL="0" indent="0" algn="ctr">
              <a:lnSpc>
                <a:spcPct val="100000"/>
              </a:lnSpc>
              <a:spcBef>
                <a:spcPts val="0"/>
              </a:spcBef>
              <a:spcAft>
                <a:spcPts val="0"/>
              </a:spcAft>
              <a:buNone/>
            </a:pPr>
            <a:r>
              <a:rPr lang="en-US" altLang="zh-CN" sz="2000" b="1" i="0" u="none" strike="noStrike" kern="1200" cap="none" spc="0" baseline="0">
                <a:solidFill>
                  <a:srgbClr val="365A50"/>
                </a:solidFill>
                <a:latin typeface="Aptos" pitchFamily="0" charset="0"/>
                <a:ea typeface="Aptos" pitchFamily="0" charset="0"/>
                <a:cs typeface="Aptos" pitchFamily="0" charset="0"/>
              </a:rPr>
              <a:t>Practical goal: Make grouping flexible because of current evidence, not fixed by old labels.</a:t>
            </a:r>
            <a:endParaRPr lang="zh-CN" altLang="en-US" sz="2000" b="0" i="0" u="none" strike="noStrike" kern="1200" cap="none" spc="0" baseline="0">
              <a:solidFill>
                <a:schemeClr val="tx1"/>
              </a:solidFill>
              <a:latin typeface="Aptos" pitchFamily="0" charset="0"/>
              <a:ea typeface="等线" pitchFamily="0" charset="0"/>
              <a:cs typeface="Aptos" pitchFamily="0" charset="0"/>
            </a:endParaRPr>
          </a:p>
        </p:txBody>
      </p:sp>
      <p:sp>
        <p:nvSpPr>
          <p:cNvPr id="131" name="Rectangles"/>
          <p:cNvSpPr>
            <a:spLocks noGrp="1"/>
          </p:cNvSpPr>
          <p:nvPr>
            <p:ph type="sldNum"/>
          </p:nvPr>
        </p:nvSpPr>
        <p:spPr>
          <a:xfrm rot="0">
            <a:off x="11064240" y="6419087"/>
            <a:ext cx="548639" cy="228600"/>
          </a:xfrm>
          <a:prstGeom prst="rect"/>
          <a:noFill/>
          <a:ln cmpd="sng" cap="flat">
            <a:noFill/>
            <a:prstDash val="solid"/>
            <a:miter/>
          </a:ln>
        </p:spPr>
        <p:txBody>
          <a:bodyPr vert="horz" wrap="none" lIns="-12700" tIns="-12700" rIns="-12700" bIns="-12700" anchor="t" anchorCtr="0">
            <a:prstTxWarp prst="textNoShape"/>
          </a:bodyPr>
          <a:lstStyle/>
          <a:p>
            <a:pPr marL="0" indent="0" algn="l">
              <a:lnSpc>
                <a:spcPct val="100000"/>
              </a:lnSpc>
              <a:spcBef>
                <a:spcPts val="0"/>
              </a:spcBef>
              <a:spcAft>
                <a:spcPts val="0"/>
              </a:spcAft>
              <a:buNone/>
            </a:pPr>
            <a:fld id="{CAD2D6BD-DE1B-4B5F-8B41-2702339687B9}" type="slidenum">
              <a:rPr lang="en-US" altLang="zh-CN" sz="750" b="0" i="0" u="none" strike="noStrike" kern="1200" cap="none" spc="0" baseline="0">
                <a:solidFill>
                  <a:srgbClr val="80613D"/>
                </a:solidFill>
                <a:latin typeface="Aptos" pitchFamily="0" charset="0"/>
                <a:ea typeface="Aptos" pitchFamily="0" charset="0"/>
                <a:cs typeface="Aptos" pitchFamily="0" charset="0"/>
              </a:rPr>
              <a:t>6</a:t>
            </a:fld>
            <a:endParaRPr lang="zh-CN" altLang="en-US" sz="750" b="0" i="0" u="none" strike="noStrike" kern="1200" cap="none" spc="0" baseline="0">
              <a:solidFill>
                <a:srgbClr val="80613D"/>
              </a:solidFill>
              <a:latin typeface="Aptos" pitchFamily="0" charset="0"/>
              <a:ea typeface="Aptos" pitchFamily="0" charset="0"/>
              <a:cs typeface="Aptos" pitchFamily="0" charset="0"/>
            </a:endParaRPr>
          </a:p>
        </p:txBody>
      </p:sp>
    </p:spTree>
    <p:extLst>
      <p:ext uri="{BB962C8B-B14F-4D97-AF65-F5344CB8AC3E}">
        <p14:creationId xmlns:p14="http://schemas.microsoft.com/office/powerpoint/2010/main" val="880265989"/>
      </p:ext>
    </p:extLst>
  </p:cSld>
  <p:clrMapOvr>
    <a:masterClrMapping/>
  </p:clrMapOvr>
</p:sld>
</file>

<file path=ppt/slides/slide7.xml><?xml version="1.0" encoding="utf-8"?>
<p:sld xmlns:p="http://schemas.openxmlformats.org/presentationml/2006/main" xmlns:r="http://schemas.openxmlformats.org/officeDocument/2006/relationships" xmlns:a="http://schemas.openxmlformats.org/drawingml/2006/main">
  <p:cSld>
    <p:bg>
      <p:bgPr>
        <a:solidFill>
          <a:srgbClr val="F8F2E7"/>
        </a:solidFill>
      </p:bgPr>
    </p:bg>
    <p:spTree>
      <p:nvGrpSpPr>
        <p:cNvPr id="1" name=""/>
        <p:cNvGrpSpPr/>
        <p:nvPr/>
      </p:nvGrpSpPr>
      <p:grpSpPr>
        <a:xfrm>
          <a:off x="0" y="0"/>
          <a:ext cx="0" cy="0"/>
          <a:chOff x="0" y="0"/>
          <a:chExt cx="0" cy="0"/>
        </a:xfrm>
      </p:grpSpPr>
      <p:sp>
        <p:nvSpPr>
          <p:cNvPr id="135" name="Rectangles"/>
          <p:cNvSpPr>
            <a:spLocks/>
          </p:cNvSpPr>
          <p:nvPr/>
        </p:nvSpPr>
        <p:spPr>
          <a:xfrm rot="0">
            <a:off x="685800" y="411480"/>
            <a:ext cx="3474720" cy="256031"/>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200" b="1" i="0" u="none" strike="noStrike" kern="1200" cap="none" spc="0" baseline="0">
                <a:solidFill>
                  <a:srgbClr val="C7795C"/>
                </a:solidFill>
                <a:latin typeface="Aptos" pitchFamily="0" charset="0"/>
                <a:ea typeface="等线" pitchFamily="0" charset="0"/>
                <a:cs typeface="Aptos" pitchFamily="0" charset="0"/>
              </a:rPr>
              <a:t>Conclusion</a:t>
            </a:r>
            <a:endParaRPr lang="zh-CN" altLang="en-US" sz="1200" b="0" i="0" u="none" strike="noStrike" kern="1200" cap="none" spc="0" baseline="0">
              <a:solidFill>
                <a:schemeClr val="tx1"/>
              </a:solidFill>
              <a:latin typeface="Aptos" pitchFamily="0" charset="0"/>
              <a:ea typeface="等线" pitchFamily="0" charset="0"/>
              <a:cs typeface="Aptos" pitchFamily="0" charset="0"/>
            </a:endParaRPr>
          </a:p>
        </p:txBody>
      </p:sp>
      <p:sp>
        <p:nvSpPr>
          <p:cNvPr id="136" name="Rectangles"/>
          <p:cNvSpPr>
            <a:spLocks/>
          </p:cNvSpPr>
          <p:nvPr/>
        </p:nvSpPr>
        <p:spPr>
          <a:xfrm rot="0">
            <a:off x="658368" y="713232"/>
            <a:ext cx="10698479" cy="54864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3000" b="1" i="0" u="none" strike="noStrike" kern="1200" cap="none" spc="0" baseline="0">
                <a:solidFill>
                  <a:srgbClr val="365A50"/>
                </a:solidFill>
                <a:latin typeface="Aptos" pitchFamily="0" charset="0"/>
                <a:ea typeface="等线" pitchFamily="0" charset="0"/>
                <a:cs typeface="Aptos" pitchFamily="0" charset="0"/>
              </a:rPr>
              <a:t>Final Takeaway</a:t>
            </a:r>
            <a:endParaRPr lang="zh-CN" altLang="en-US" sz="3000" b="0" i="0" u="none" strike="noStrike" kern="1200" cap="none" spc="0" baseline="0">
              <a:solidFill>
                <a:schemeClr val="tx1"/>
              </a:solidFill>
              <a:latin typeface="Aptos" pitchFamily="0" charset="0"/>
              <a:ea typeface="等线" pitchFamily="0" charset="0"/>
              <a:cs typeface="Aptos" pitchFamily="0" charset="0"/>
            </a:endParaRPr>
          </a:p>
        </p:txBody>
      </p:sp>
      <p:sp>
        <p:nvSpPr>
          <p:cNvPr id="137" name="Straight line"/>
          <p:cNvSpPr>
            <a:spLocks/>
          </p:cNvSpPr>
          <p:nvPr/>
        </p:nvSpPr>
        <p:spPr>
          <a:xfrm rot="0">
            <a:off x="685800" y="1399032"/>
            <a:ext cx="1920240" cy="0"/>
          </a:xfrm>
          <a:prstGeom prst="line"/>
          <a:noFill/>
          <a:ln w="38100" cmpd="sng" cap="flat">
            <a:solidFill>
              <a:srgbClr val="D8A15D"/>
            </a:solidFill>
            <a:prstDash val="solid"/>
            <a:round/>
          </a:ln>
        </p:spPr>
      </p:sp>
      <p:sp>
        <p:nvSpPr>
          <p:cNvPr id="138" name="Rectangles"/>
          <p:cNvSpPr>
            <a:spLocks/>
          </p:cNvSpPr>
          <p:nvPr/>
        </p:nvSpPr>
        <p:spPr>
          <a:xfrm rot="0">
            <a:off x="914400" y="1783080"/>
            <a:ext cx="10378440" cy="658368"/>
          </a:xfrm>
          <a:prstGeom prst="rect"/>
          <a:noFill/>
          <a:ln w="12700" cmpd="sng" cap="flat">
            <a:noFill/>
            <a:prstDash val="solid"/>
            <a:miter/>
          </a:ln>
        </p:spPr>
        <p:txBody>
          <a:bodyPr vert="horz" wrap="square" lIns="0" tIns="0" rIns="0" bIns="0" anchor="ctr" anchorCtr="0">
            <a:prstTxWarp prst="textNoShape"/>
          </a:bodyPr>
          <a:lstStyle/>
          <a:p>
            <a:pPr marL="0" indent="0" algn="ctr">
              <a:lnSpc>
                <a:spcPct val="100000"/>
              </a:lnSpc>
              <a:spcBef>
                <a:spcPts val="0"/>
              </a:spcBef>
              <a:spcAft>
                <a:spcPts val="0"/>
              </a:spcAft>
              <a:buNone/>
            </a:pPr>
            <a:r>
              <a:rPr lang="en-US" altLang="zh-CN" sz="3200" b="1" i="0" u="none" strike="noStrike" kern="1200" cap="none" spc="0" baseline="0">
                <a:solidFill>
                  <a:srgbClr val="365A50"/>
                </a:solidFill>
                <a:latin typeface="Aptos" pitchFamily="0" charset="0"/>
                <a:ea typeface="等线" pitchFamily="0" charset="0"/>
                <a:cs typeface="Aptos" pitchFamily="0" charset="0"/>
              </a:rPr>
              <a:t>Formative assessment should be caring, current, and responsive.</a:t>
            </a:r>
            <a:endParaRPr lang="zh-CN" altLang="en-US" sz="3200" b="0" i="0" u="none" strike="noStrike" kern="1200" cap="none" spc="0" baseline="0">
              <a:solidFill>
                <a:schemeClr val="tx1"/>
              </a:solidFill>
              <a:latin typeface="Aptos" pitchFamily="0" charset="0"/>
              <a:ea typeface="等线" pitchFamily="0" charset="0"/>
              <a:cs typeface="Aptos" pitchFamily="0" charset="0"/>
            </a:endParaRPr>
          </a:p>
        </p:txBody>
      </p:sp>
      <p:sp>
        <p:nvSpPr>
          <p:cNvPr id="139" name="Straight line"/>
          <p:cNvSpPr>
            <a:spLocks/>
          </p:cNvSpPr>
          <p:nvPr/>
        </p:nvSpPr>
        <p:spPr>
          <a:xfrm rot="0">
            <a:off x="2011679" y="2651760"/>
            <a:ext cx="8138160" cy="0"/>
          </a:xfrm>
          <a:prstGeom prst="line"/>
          <a:noFill/>
          <a:ln w="50800" cmpd="sng" cap="flat">
            <a:solidFill>
              <a:srgbClr val="D8A15D"/>
            </a:solidFill>
            <a:prstDash val="solid"/>
            <a:round/>
          </a:ln>
        </p:spPr>
      </p:sp>
      <p:sp>
        <p:nvSpPr>
          <p:cNvPr id="140" name="Rectangles"/>
          <p:cNvSpPr>
            <a:spLocks/>
          </p:cNvSpPr>
          <p:nvPr/>
        </p:nvSpPr>
        <p:spPr>
          <a:xfrm rot="0">
            <a:off x="1143000" y="3337560"/>
            <a:ext cx="2514600" cy="658368"/>
          </a:xfrm>
          <a:prstGeom prst="rect"/>
          <a:solidFill>
            <a:srgbClr val="EADCC9"/>
          </a:solidFill>
          <a:ln w="12700" cmpd="sng" cap="flat">
            <a:solidFill>
              <a:srgbClr val="EADCC9"/>
            </a:solidFill>
            <a:prstDash val="solid"/>
            <a:round/>
          </a:ln>
        </p:spPr>
        <p:txBody>
          <a:bodyPr vert="horz" wrap="square" lIns="635" tIns="635" rIns="635" bIns="635" anchor="ctr" anchorCtr="0">
            <a:prstTxWarp prst="textNoShape"/>
          </a:bodyPr>
          <a:lstStyle/>
          <a:p>
            <a:pPr marL="0" indent="0" algn="ctr">
              <a:lnSpc>
                <a:spcPct val="100000"/>
              </a:lnSpc>
              <a:spcBef>
                <a:spcPts val="0"/>
              </a:spcBef>
              <a:spcAft>
                <a:spcPts val="0"/>
              </a:spcAft>
              <a:buNone/>
            </a:pPr>
            <a:r>
              <a:rPr lang="en-US" altLang="zh-CN" sz="1800" b="1" i="0" u="none" strike="noStrike" kern="1200" cap="none" spc="0" baseline="0">
                <a:solidFill>
                  <a:srgbClr val="365A50"/>
                </a:solidFill>
                <a:latin typeface="Aptos" pitchFamily="0" charset="0"/>
                <a:ea typeface="等线" pitchFamily="0" charset="0"/>
                <a:cs typeface="Aptos" pitchFamily="0" charset="0"/>
              </a:rPr>
              <a:t>Check every learner</a:t>
            </a:r>
            <a:endParaRPr lang="zh-CN" altLang="en-US" sz="1800" b="0" i="0" u="none" strike="noStrike" kern="1200" cap="none" spc="0" baseline="0">
              <a:solidFill>
                <a:schemeClr val="tx1"/>
              </a:solidFill>
              <a:latin typeface="Aptos" pitchFamily="0" charset="0"/>
              <a:ea typeface="等线" pitchFamily="0" charset="0"/>
              <a:cs typeface="Aptos" pitchFamily="0" charset="0"/>
            </a:endParaRPr>
          </a:p>
        </p:txBody>
      </p:sp>
      <p:sp>
        <p:nvSpPr>
          <p:cNvPr id="141" name="Rectangles"/>
          <p:cNvSpPr>
            <a:spLocks/>
          </p:cNvSpPr>
          <p:nvPr/>
        </p:nvSpPr>
        <p:spPr>
          <a:xfrm rot="0">
            <a:off x="4800600" y="3337560"/>
            <a:ext cx="2514600" cy="658368"/>
          </a:xfrm>
          <a:prstGeom prst="rect"/>
          <a:solidFill>
            <a:srgbClr val="DDE9DB"/>
          </a:solidFill>
          <a:ln w="12700" cmpd="sng" cap="flat">
            <a:solidFill>
              <a:srgbClr val="DDE9DB"/>
            </a:solidFill>
            <a:prstDash val="solid"/>
            <a:round/>
          </a:ln>
        </p:spPr>
        <p:txBody>
          <a:bodyPr vert="horz" wrap="square" lIns="635" tIns="635" rIns="635" bIns="635" anchor="ctr" anchorCtr="0">
            <a:prstTxWarp prst="textNoShape"/>
          </a:bodyPr>
          <a:lstStyle/>
          <a:p>
            <a:pPr marL="0" indent="0" algn="ctr">
              <a:lnSpc>
                <a:spcPct val="100000"/>
              </a:lnSpc>
              <a:spcBef>
                <a:spcPts val="0"/>
              </a:spcBef>
              <a:spcAft>
                <a:spcPts val="0"/>
              </a:spcAft>
              <a:buNone/>
            </a:pPr>
            <a:r>
              <a:rPr lang="en-US" altLang="zh-CN" sz="1800" b="1" i="0" u="none" strike="noStrike" kern="1200" cap="none" spc="0" baseline="0">
                <a:solidFill>
                  <a:srgbClr val="365A50"/>
                </a:solidFill>
                <a:latin typeface="Aptos" pitchFamily="0" charset="0"/>
                <a:ea typeface="等线" pitchFamily="0" charset="0"/>
                <a:cs typeface="Aptos" pitchFamily="0" charset="0"/>
              </a:rPr>
              <a:t>Respond in real time</a:t>
            </a:r>
            <a:endParaRPr lang="zh-CN" altLang="en-US" sz="1800" b="0" i="0" u="none" strike="noStrike" kern="1200" cap="none" spc="0" baseline="0">
              <a:solidFill>
                <a:schemeClr val="tx1"/>
              </a:solidFill>
              <a:latin typeface="Aptos" pitchFamily="0" charset="0"/>
              <a:ea typeface="等线" pitchFamily="0" charset="0"/>
              <a:cs typeface="Aptos" pitchFamily="0" charset="0"/>
            </a:endParaRPr>
          </a:p>
        </p:txBody>
      </p:sp>
      <p:sp>
        <p:nvSpPr>
          <p:cNvPr id="142" name="Rectangles"/>
          <p:cNvSpPr>
            <a:spLocks/>
          </p:cNvSpPr>
          <p:nvPr/>
        </p:nvSpPr>
        <p:spPr>
          <a:xfrm rot="0">
            <a:off x="8458200" y="3337560"/>
            <a:ext cx="2514600" cy="658368"/>
          </a:xfrm>
          <a:prstGeom prst="rect"/>
          <a:solidFill>
            <a:srgbClr val="F1D6C6"/>
          </a:solidFill>
          <a:ln w="12700" cmpd="sng" cap="flat">
            <a:solidFill>
              <a:srgbClr val="F1D6C6"/>
            </a:solidFill>
            <a:prstDash val="solid"/>
            <a:round/>
          </a:ln>
        </p:spPr>
        <p:txBody>
          <a:bodyPr vert="horz" wrap="square" lIns="635" tIns="635" rIns="635" bIns="635" anchor="ctr" anchorCtr="0">
            <a:prstTxWarp prst="textNoShape"/>
          </a:bodyPr>
          <a:lstStyle/>
          <a:p>
            <a:pPr marL="0" indent="0" algn="ctr">
              <a:lnSpc>
                <a:spcPct val="100000"/>
              </a:lnSpc>
              <a:spcBef>
                <a:spcPts val="0"/>
              </a:spcBef>
              <a:spcAft>
                <a:spcPts val="0"/>
              </a:spcAft>
              <a:buNone/>
            </a:pPr>
            <a:r>
              <a:rPr lang="en-US" altLang="zh-CN" sz="1800" b="1" i="0" u="none" strike="noStrike" kern="1200" cap="none" spc="0" baseline="0">
                <a:solidFill>
                  <a:srgbClr val="365A50"/>
                </a:solidFill>
                <a:latin typeface="Aptos" pitchFamily="0" charset="0"/>
                <a:ea typeface="等线" pitchFamily="0" charset="0"/>
                <a:cs typeface="Aptos" pitchFamily="0" charset="0"/>
              </a:rPr>
              <a:t>Build a caring classroom</a:t>
            </a:r>
            <a:endParaRPr lang="zh-CN" altLang="en-US" sz="1800" b="0" i="0" u="none" strike="noStrike" kern="1200" cap="none" spc="0" baseline="0">
              <a:solidFill>
                <a:schemeClr val="tx1"/>
              </a:solidFill>
              <a:latin typeface="Aptos" pitchFamily="0" charset="0"/>
              <a:ea typeface="等线" pitchFamily="0" charset="0"/>
              <a:cs typeface="Aptos" pitchFamily="0" charset="0"/>
            </a:endParaRPr>
          </a:p>
        </p:txBody>
      </p:sp>
      <p:sp>
        <p:nvSpPr>
          <p:cNvPr id="143" name="Rectangles"/>
          <p:cNvSpPr>
            <a:spLocks/>
          </p:cNvSpPr>
          <p:nvPr/>
        </p:nvSpPr>
        <p:spPr>
          <a:xfrm rot="0">
            <a:off x="1188720" y="4663440"/>
            <a:ext cx="9784080" cy="658368"/>
          </a:xfrm>
          <a:prstGeom prst="rect"/>
          <a:noFill/>
          <a:ln w="12700" cmpd="sng" cap="flat">
            <a:noFill/>
            <a:prstDash val="solid"/>
            <a:miter/>
          </a:ln>
        </p:spPr>
        <p:txBody>
          <a:bodyPr vert="horz" wrap="square" lIns="1016" tIns="1016" rIns="1016" bIns="1016" anchor="t" anchorCtr="0">
            <a:prstTxWarp prst="textNoShape"/>
          </a:bodyPr>
          <a:lstStyle/>
          <a:p>
            <a:pPr marL="0" indent="0" algn="ctr">
              <a:lnSpc>
                <a:spcPct val="100000"/>
              </a:lnSpc>
              <a:spcBef>
                <a:spcPts val="0"/>
              </a:spcBef>
              <a:spcAft>
                <a:spcPts val="0"/>
              </a:spcAft>
              <a:buNone/>
            </a:pPr>
            <a:r>
              <a:rPr lang="en-US" altLang="zh-CN" sz="2100" b="0" i="0" u="none" strike="noStrike" kern="1200" cap="none" spc="0" baseline="0">
                <a:solidFill>
                  <a:srgbClr val="2B2B2B"/>
                </a:solidFill>
                <a:latin typeface="Aptos" pitchFamily="0" charset="0"/>
                <a:ea typeface="Aptos" pitchFamily="0" charset="0"/>
                <a:cs typeface="Aptos" pitchFamily="0" charset="0"/>
              </a:rPr>
              <a:t>For Madison, the main improvement is to use assessment not as a past label, but as a present guide for fair support and meaningful growth.</a:t>
            </a:r>
            <a:endParaRPr lang="zh-CN" altLang="en-US" sz="2100" b="0" i="0" u="none" strike="noStrike" kern="1200" cap="none" spc="0" baseline="0">
              <a:solidFill>
                <a:schemeClr val="tx1"/>
              </a:solidFill>
              <a:latin typeface="Aptos" pitchFamily="0" charset="0"/>
              <a:ea typeface="等线" pitchFamily="0" charset="0"/>
              <a:cs typeface="Aptos" pitchFamily="0" charset="0"/>
            </a:endParaRPr>
          </a:p>
        </p:txBody>
      </p:sp>
      <p:sp>
        <p:nvSpPr>
          <p:cNvPr id="144" name="Rectangles"/>
          <p:cNvSpPr>
            <a:spLocks/>
          </p:cNvSpPr>
          <p:nvPr/>
        </p:nvSpPr>
        <p:spPr>
          <a:xfrm rot="0">
            <a:off x="4754880" y="5715000"/>
            <a:ext cx="2606040" cy="320040"/>
          </a:xfrm>
          <a:prstGeom prst="rect"/>
          <a:noFill/>
          <a:ln w="12700" cmpd="sng" cap="flat">
            <a:noFill/>
            <a:prstDash val="solid"/>
            <a:miter/>
          </a:ln>
        </p:spPr>
        <p:txBody>
          <a:bodyPr vert="horz" wrap="square" lIns="0" tIns="0" rIns="0" bIns="0" anchor="ctr" anchorCtr="0">
            <a:prstTxWarp prst="textNoShape"/>
          </a:bodyPr>
          <a:lstStyle/>
          <a:p>
            <a:pPr marL="0" indent="0" algn="ctr">
              <a:lnSpc>
                <a:spcPct val="100000"/>
              </a:lnSpc>
              <a:spcBef>
                <a:spcPts val="0"/>
              </a:spcBef>
              <a:spcAft>
                <a:spcPts val="0"/>
              </a:spcAft>
              <a:buNone/>
            </a:pPr>
            <a:r>
              <a:rPr lang="en-US" altLang="zh-CN" sz="1800" b="1" i="0" u="none" strike="noStrike" kern="1200" cap="none" spc="0" baseline="0">
                <a:solidFill>
                  <a:srgbClr val="C7795C"/>
                </a:solidFill>
                <a:latin typeface="Aptos" pitchFamily="0" charset="0"/>
                <a:ea typeface="等线" pitchFamily="0" charset="0"/>
                <a:cs typeface="Aptos" pitchFamily="0" charset="0"/>
              </a:rPr>
              <a:t>Thank you</a:t>
            </a:r>
            <a:endParaRPr lang="zh-CN" altLang="en-US" sz="1800" b="0" i="0" u="none" strike="noStrike" kern="1200" cap="none" spc="0" baseline="0">
              <a:solidFill>
                <a:schemeClr val="tx1"/>
              </a:solidFill>
              <a:latin typeface="Aptos" pitchFamily="0" charset="0"/>
              <a:ea typeface="等线" pitchFamily="0" charset="0"/>
              <a:cs typeface="Aptos" pitchFamily="0" charset="0"/>
            </a:endParaRPr>
          </a:p>
        </p:txBody>
      </p:sp>
      <p:sp>
        <p:nvSpPr>
          <p:cNvPr id="145" name="Rectangles"/>
          <p:cNvSpPr>
            <a:spLocks noGrp="1"/>
          </p:cNvSpPr>
          <p:nvPr>
            <p:ph type="sldNum"/>
          </p:nvPr>
        </p:nvSpPr>
        <p:spPr>
          <a:xfrm rot="0">
            <a:off x="11064240" y="6419087"/>
            <a:ext cx="548639" cy="228600"/>
          </a:xfrm>
          <a:prstGeom prst="rect"/>
          <a:noFill/>
          <a:ln cmpd="sng" cap="flat">
            <a:noFill/>
            <a:prstDash val="solid"/>
            <a:miter/>
          </a:ln>
        </p:spPr>
        <p:txBody>
          <a:bodyPr vert="horz" wrap="none" lIns="-12700" tIns="-12700" rIns="-12700" bIns="-12700" anchor="t" anchorCtr="0">
            <a:prstTxWarp prst="textNoShape"/>
          </a:bodyPr>
          <a:lstStyle/>
          <a:p>
            <a:pPr marL="0" indent="0" algn="l">
              <a:lnSpc>
                <a:spcPct val="100000"/>
              </a:lnSpc>
              <a:spcBef>
                <a:spcPts val="0"/>
              </a:spcBef>
              <a:spcAft>
                <a:spcPts val="0"/>
              </a:spcAft>
              <a:buNone/>
            </a:pPr>
            <a:fld id="{CAD2D6BD-DE1B-4B5F-8B41-2702339687B9}" type="slidenum">
              <a:rPr lang="en-US" altLang="zh-CN" sz="750" b="0" i="0" u="none" strike="noStrike" kern="1200" cap="none" spc="0" baseline="0">
                <a:solidFill>
                  <a:srgbClr val="80613D"/>
                </a:solidFill>
                <a:latin typeface="Aptos" pitchFamily="0" charset="0"/>
                <a:ea typeface="Aptos" pitchFamily="0" charset="0"/>
                <a:cs typeface="Aptos" pitchFamily="0" charset="0"/>
              </a:rPr>
              <a:t>7</a:t>
            </a:fld>
            <a:endParaRPr lang="zh-CN" altLang="en-US" sz="750" b="0" i="0" u="none" strike="noStrike" kern="1200" cap="none" spc="0" baseline="0">
              <a:solidFill>
                <a:srgbClr val="80613D"/>
              </a:solidFill>
              <a:latin typeface="Aptos" pitchFamily="0" charset="0"/>
              <a:ea typeface="Aptos" pitchFamily="0" charset="0"/>
              <a:cs typeface="Aptos" pitchFamily="0" charset="0"/>
            </a:endParaRPr>
          </a:p>
        </p:txBody>
      </p:sp>
    </p:spTree>
    <p:extLst>
      <p:ext uri="{BB962C8B-B14F-4D97-AF65-F5344CB8AC3E}">
        <p14:creationId xmlns:p14="http://schemas.microsoft.com/office/powerpoint/2010/main" val="382830050"/>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
        <a:ea typeface=""/>
        <a:cs typeface=""/>
      </a:majorFont>
      <a:minorFont>
        <a:latin typeface=""/>
        <a:ea typeface=""/>
        <a:cs typeface=""/>
      </a:minorFont>
    </a:fontScheme>
    <a:fmtScheme name="Office Theme">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ppt/theme/theme2.xml><?xml version="1.0" encoding="utf-8"?>
<a:theme xmlns:a="http://schemas.openxmlformats.org/drawingml/2006/main" name="notesMaster1">
  <a:themeElements>
    <a:clrScheme name="notesMaster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notesMaster1">
      <a:majorFont>
        <a:latin typeface=""/>
        <a:ea typeface=""/>
        <a:cs typeface=""/>
      </a:majorFont>
      <a:minorFont>
        <a:latin typeface=""/>
        <a:ea typeface=""/>
        <a:cs typeface=""/>
      </a:minorFont>
    </a:fontScheme>
    <a:fmtScheme name="notes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docProps/app.xml><?xml version="1.0" encoding="utf-8"?>
<Properties xmlns="http://schemas.openxmlformats.org/officeDocument/2006/extended-properties">
  <Template>Normal.eit</Template>
  <TotalTime>2</TotalTime>
  <Application>Honor_Office</Application>
  <Company>ChatGPT</Company>
</Properties>
</file>

<file path=docProps/core.xml><?xml version="1.0" encoding="utf-8"?>
<cp:coreProperties xmlns:cp="http://schemas.openxmlformats.org/package/2006/metadata/core-properties" xmlns:dc="http://purl.org/dc/elements/1.1/" xmlns:dcterms="http://purl.org/dc/terms/" xmlns:xsi="http://www.w3.org/2001/XMLSchema-instance">
  <dc:title>Activity 3 - Case Analysis: Case of Madison</dc:title>
  <dc:subject>Activity 3 - Case Analysis: Case of Madison</dc:subject>
  <dc:creator>OpenAI</dc:creator>
  <cp:lastModifiedBy>HONOR Docs</cp:lastModifiedBy>
  <cp:revision>1</cp:revision>
  <dcterms:created xsi:type="dcterms:W3CDTF">2026-05-09T15:48:24Z</dcterms:created>
  <dcterms:modified xsi:type="dcterms:W3CDTF">2026-05-09T15:53:06Z</dcterms:modified>
</cp:coreProperties>
</file>