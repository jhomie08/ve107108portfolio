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58" r:id="rId5"/>
    <p:sldId id="259" r:id="rId6"/>
    <p:sldId id="268" r:id="rId7"/>
    <p:sldId id="260" r:id="rId8"/>
    <p:sldId id="261" r:id="rId9"/>
    <p:sldId id="262" r:id="rId10"/>
    <p:sldId id="263" r:id="rId11"/>
    <p:sldId id="264"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C3992-26C9-0B18-CF02-8B91A3604640}" v="175" dt="2026-05-02T10:00:11.409"/>
    <p1510:client id="{4716B442-CCB2-31BA-664A-16192F835621}" v="23" dt="2026-05-02T10:09:56.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B70F83-1990-414F-829E-434990000100}"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B08A3EDF-99C7-4734-A9DC-58BFA1F3C1D0}">
      <dgm:prSet phldrT="[Text]" phldr="0"/>
      <dgm:spPr/>
      <dgm:t>
        <a:bodyPr/>
        <a:lstStyle/>
        <a:p>
          <a:pPr rtl="0"/>
          <a:r>
            <a:rPr lang="en-US" dirty="0">
              <a:latin typeface="Calibri"/>
            </a:rPr>
            <a:t> </a:t>
          </a:r>
          <a:r>
            <a:rPr lang="en-US">
              <a:latin typeface="Calibri"/>
            </a:rPr>
            <a:t>Planning</a:t>
          </a:r>
          <a:endParaRPr lang="en-US"/>
        </a:p>
      </dgm:t>
    </dgm:pt>
    <dgm:pt modelId="{D8E92C2A-4D55-46D4-9A9B-1699412DD737}" type="parTrans" cxnId="{838616C6-BCD3-47D4-82F1-C6BFA5C8FAE1}">
      <dgm:prSet/>
      <dgm:spPr/>
      <dgm:t>
        <a:bodyPr/>
        <a:lstStyle/>
        <a:p>
          <a:endParaRPr lang="en-US"/>
        </a:p>
      </dgm:t>
    </dgm:pt>
    <dgm:pt modelId="{40F6825B-3824-487D-85A7-246944EE3B35}" type="sibTrans" cxnId="{838616C6-BCD3-47D4-82F1-C6BFA5C8FAE1}">
      <dgm:prSet/>
      <dgm:spPr/>
      <dgm:t>
        <a:bodyPr/>
        <a:lstStyle/>
        <a:p>
          <a:endParaRPr lang="en-US"/>
        </a:p>
      </dgm:t>
    </dgm:pt>
    <dgm:pt modelId="{E0B33476-C898-42F3-8DDC-49DDB8C98D6A}">
      <dgm:prSet phldrT="[Text]" phldr="0"/>
      <dgm:spPr/>
      <dgm:t>
        <a:bodyPr/>
        <a:lstStyle/>
        <a:p>
          <a:pPr rtl="0"/>
          <a:r>
            <a:rPr lang="en-US" dirty="0">
              <a:latin typeface="Calibri"/>
            </a:rPr>
            <a:t> </a:t>
          </a:r>
          <a:r>
            <a:rPr lang="en-US">
              <a:latin typeface="Calibri"/>
            </a:rPr>
            <a:t>Drafting</a:t>
          </a:r>
          <a:endParaRPr lang="en-US"/>
        </a:p>
      </dgm:t>
    </dgm:pt>
    <dgm:pt modelId="{D8611EC1-F96E-424C-A465-EB460B85C27D}" type="parTrans" cxnId="{2784285B-FC9E-4A0A-8824-E5691E2D8AFB}">
      <dgm:prSet/>
      <dgm:spPr/>
      <dgm:t>
        <a:bodyPr/>
        <a:lstStyle/>
        <a:p>
          <a:endParaRPr lang="en-US"/>
        </a:p>
      </dgm:t>
    </dgm:pt>
    <dgm:pt modelId="{30FA96A1-1E31-4F91-BEC2-8F2BE4735381}" type="sibTrans" cxnId="{2784285B-FC9E-4A0A-8824-E5691E2D8AFB}">
      <dgm:prSet/>
      <dgm:spPr/>
      <dgm:t>
        <a:bodyPr/>
        <a:lstStyle/>
        <a:p>
          <a:endParaRPr lang="en-US"/>
        </a:p>
      </dgm:t>
    </dgm:pt>
    <dgm:pt modelId="{8C6E840F-8A49-466E-AC1D-7CFE42C5B612}">
      <dgm:prSet phldrT="[Text]" phldr="0"/>
      <dgm:spPr/>
      <dgm:t>
        <a:bodyPr/>
        <a:lstStyle/>
        <a:p>
          <a:pPr rtl="0"/>
          <a:r>
            <a:rPr lang="en-US">
              <a:latin typeface="Calibri"/>
            </a:rPr>
            <a:t> Reviewing</a:t>
          </a:r>
          <a:endParaRPr lang="en-US"/>
        </a:p>
      </dgm:t>
    </dgm:pt>
    <dgm:pt modelId="{41A5F3E8-7C0B-4FC0-8F82-A59F0415CA8E}" type="parTrans" cxnId="{E4C2970C-5C36-4D88-8223-36D8120E602D}">
      <dgm:prSet/>
      <dgm:spPr/>
      <dgm:t>
        <a:bodyPr/>
        <a:lstStyle/>
        <a:p>
          <a:endParaRPr lang="en-US"/>
        </a:p>
      </dgm:t>
    </dgm:pt>
    <dgm:pt modelId="{C4C195CB-CB60-4CAD-AA31-8644511B1DFA}" type="sibTrans" cxnId="{E4C2970C-5C36-4D88-8223-36D8120E602D}">
      <dgm:prSet/>
      <dgm:spPr/>
      <dgm:t>
        <a:bodyPr/>
        <a:lstStyle/>
        <a:p>
          <a:endParaRPr lang="en-US"/>
        </a:p>
      </dgm:t>
    </dgm:pt>
    <dgm:pt modelId="{851F5468-72F0-4230-A2C4-29F142105E92}">
      <dgm:prSet phldrT="[Text]" phldr="0"/>
      <dgm:spPr/>
      <dgm:t>
        <a:bodyPr/>
        <a:lstStyle/>
        <a:p>
          <a:pPr rtl="0"/>
          <a:r>
            <a:rPr lang="en-US" dirty="0">
              <a:latin typeface="Calibri"/>
            </a:rPr>
            <a:t> </a:t>
          </a:r>
          <a:r>
            <a:rPr lang="en-US">
              <a:latin typeface="Calibri"/>
            </a:rPr>
            <a:t>FINAL OUTPUT</a:t>
          </a:r>
          <a:endParaRPr lang="en-US"/>
        </a:p>
      </dgm:t>
    </dgm:pt>
    <dgm:pt modelId="{317EFF3F-D770-44DD-9F80-4BE219B6A7F7}" type="parTrans" cxnId="{41674485-8B56-4C86-978B-CFAEFB798D61}">
      <dgm:prSet/>
      <dgm:spPr/>
      <dgm:t>
        <a:bodyPr/>
        <a:lstStyle/>
        <a:p>
          <a:endParaRPr lang="en-US"/>
        </a:p>
      </dgm:t>
    </dgm:pt>
    <dgm:pt modelId="{4E8BB472-8811-434B-93E6-8EF23A900F89}" type="sibTrans" cxnId="{41674485-8B56-4C86-978B-CFAEFB798D61}">
      <dgm:prSet/>
      <dgm:spPr/>
      <dgm:t>
        <a:bodyPr/>
        <a:lstStyle/>
        <a:p>
          <a:endParaRPr lang="en-US"/>
        </a:p>
      </dgm:t>
    </dgm:pt>
    <dgm:pt modelId="{DABDE69D-B1DA-4219-9C6D-D8EA5E61BA42}" type="pres">
      <dgm:prSet presAssocID="{C1B70F83-1990-414F-829E-434990000100}" presName="diagram" presStyleCnt="0">
        <dgm:presLayoutVars>
          <dgm:dir/>
          <dgm:resizeHandles val="exact"/>
        </dgm:presLayoutVars>
      </dgm:prSet>
      <dgm:spPr/>
    </dgm:pt>
    <dgm:pt modelId="{020E7856-D462-4FA4-91E0-A96EEA155490}" type="pres">
      <dgm:prSet presAssocID="{B08A3EDF-99C7-4734-A9DC-58BFA1F3C1D0}" presName="node" presStyleLbl="node1" presStyleIdx="0" presStyleCnt="4">
        <dgm:presLayoutVars>
          <dgm:bulletEnabled val="1"/>
        </dgm:presLayoutVars>
      </dgm:prSet>
      <dgm:spPr/>
    </dgm:pt>
    <dgm:pt modelId="{0DF817BD-A645-496B-858C-258930EA9401}" type="pres">
      <dgm:prSet presAssocID="{40F6825B-3824-487D-85A7-246944EE3B35}" presName="sibTrans" presStyleLbl="sibTrans2D1" presStyleIdx="0" presStyleCnt="3"/>
      <dgm:spPr/>
    </dgm:pt>
    <dgm:pt modelId="{36FE1C76-43CD-45CD-A98A-E82053F0C527}" type="pres">
      <dgm:prSet presAssocID="{40F6825B-3824-487D-85A7-246944EE3B35}" presName="connectorText" presStyleLbl="sibTrans2D1" presStyleIdx="0" presStyleCnt="3"/>
      <dgm:spPr/>
    </dgm:pt>
    <dgm:pt modelId="{B8D64664-2BE6-44D2-88EC-1A7A7FEC56DC}" type="pres">
      <dgm:prSet presAssocID="{E0B33476-C898-42F3-8DDC-49DDB8C98D6A}" presName="node" presStyleLbl="node1" presStyleIdx="1" presStyleCnt="4">
        <dgm:presLayoutVars>
          <dgm:bulletEnabled val="1"/>
        </dgm:presLayoutVars>
      </dgm:prSet>
      <dgm:spPr/>
    </dgm:pt>
    <dgm:pt modelId="{A2746A57-EEFC-4BD2-8D92-44BECC2F5D45}" type="pres">
      <dgm:prSet presAssocID="{30FA96A1-1E31-4F91-BEC2-8F2BE4735381}" presName="sibTrans" presStyleLbl="sibTrans2D1" presStyleIdx="1" presStyleCnt="3"/>
      <dgm:spPr/>
    </dgm:pt>
    <dgm:pt modelId="{DD0EA55A-63FC-49E5-A66A-9D0A1ED71A67}" type="pres">
      <dgm:prSet presAssocID="{30FA96A1-1E31-4F91-BEC2-8F2BE4735381}" presName="connectorText" presStyleLbl="sibTrans2D1" presStyleIdx="1" presStyleCnt="3"/>
      <dgm:spPr/>
    </dgm:pt>
    <dgm:pt modelId="{B0A8846F-1F9A-4349-96FD-DCC0493304A1}" type="pres">
      <dgm:prSet presAssocID="{8C6E840F-8A49-466E-AC1D-7CFE42C5B612}" presName="node" presStyleLbl="node1" presStyleIdx="2" presStyleCnt="4">
        <dgm:presLayoutVars>
          <dgm:bulletEnabled val="1"/>
        </dgm:presLayoutVars>
      </dgm:prSet>
      <dgm:spPr/>
    </dgm:pt>
    <dgm:pt modelId="{2B962A3B-BEDE-42F2-851C-3BD1836E2E3F}" type="pres">
      <dgm:prSet presAssocID="{C4C195CB-CB60-4CAD-AA31-8644511B1DFA}" presName="sibTrans" presStyleLbl="sibTrans2D1" presStyleIdx="2" presStyleCnt="3"/>
      <dgm:spPr/>
    </dgm:pt>
    <dgm:pt modelId="{3F665D7C-04A5-4606-BA6F-E8644814A45F}" type="pres">
      <dgm:prSet presAssocID="{C4C195CB-CB60-4CAD-AA31-8644511B1DFA}" presName="connectorText" presStyleLbl="sibTrans2D1" presStyleIdx="2" presStyleCnt="3"/>
      <dgm:spPr/>
    </dgm:pt>
    <dgm:pt modelId="{3C4F9EDD-401C-453F-9C64-04B93A53C4CB}" type="pres">
      <dgm:prSet presAssocID="{851F5468-72F0-4230-A2C4-29F142105E92}" presName="node" presStyleLbl="node1" presStyleIdx="3" presStyleCnt="4">
        <dgm:presLayoutVars>
          <dgm:bulletEnabled val="1"/>
        </dgm:presLayoutVars>
      </dgm:prSet>
      <dgm:spPr/>
    </dgm:pt>
  </dgm:ptLst>
  <dgm:cxnLst>
    <dgm:cxn modelId="{CC985306-2A44-4FD9-9152-9C6916D8B513}" type="presOf" srcId="{C4C195CB-CB60-4CAD-AA31-8644511B1DFA}" destId="{3F665D7C-04A5-4606-BA6F-E8644814A45F}" srcOrd="1" destOrd="0" presId="urn:microsoft.com/office/officeart/2005/8/layout/process5"/>
    <dgm:cxn modelId="{BDE3DE06-AE71-45FE-A9CB-7FBF2BDC1925}" type="presOf" srcId="{851F5468-72F0-4230-A2C4-29F142105E92}" destId="{3C4F9EDD-401C-453F-9C64-04B93A53C4CB}" srcOrd="0" destOrd="0" presId="urn:microsoft.com/office/officeart/2005/8/layout/process5"/>
    <dgm:cxn modelId="{E4C2970C-5C36-4D88-8223-36D8120E602D}" srcId="{C1B70F83-1990-414F-829E-434990000100}" destId="{8C6E840F-8A49-466E-AC1D-7CFE42C5B612}" srcOrd="2" destOrd="0" parTransId="{41A5F3E8-7C0B-4FC0-8F82-A59F0415CA8E}" sibTransId="{C4C195CB-CB60-4CAD-AA31-8644511B1DFA}"/>
    <dgm:cxn modelId="{AA9C9122-1447-4F6C-BAF3-5AF4C156ADFD}" type="presOf" srcId="{C4C195CB-CB60-4CAD-AA31-8644511B1DFA}" destId="{2B962A3B-BEDE-42F2-851C-3BD1836E2E3F}" srcOrd="0" destOrd="0" presId="urn:microsoft.com/office/officeart/2005/8/layout/process5"/>
    <dgm:cxn modelId="{2784285B-FC9E-4A0A-8824-E5691E2D8AFB}" srcId="{C1B70F83-1990-414F-829E-434990000100}" destId="{E0B33476-C898-42F3-8DDC-49DDB8C98D6A}" srcOrd="1" destOrd="0" parTransId="{D8611EC1-F96E-424C-A465-EB460B85C27D}" sibTransId="{30FA96A1-1E31-4F91-BEC2-8F2BE4735381}"/>
    <dgm:cxn modelId="{E58E6A47-90B4-42A0-AF32-B89132E87B0E}" type="presOf" srcId="{B08A3EDF-99C7-4734-A9DC-58BFA1F3C1D0}" destId="{020E7856-D462-4FA4-91E0-A96EEA155490}" srcOrd="0" destOrd="0" presId="urn:microsoft.com/office/officeart/2005/8/layout/process5"/>
    <dgm:cxn modelId="{47A6644E-8048-43EE-AB57-DC001EAFE2AE}" type="presOf" srcId="{C1B70F83-1990-414F-829E-434990000100}" destId="{DABDE69D-B1DA-4219-9C6D-D8EA5E61BA42}" srcOrd="0" destOrd="0" presId="urn:microsoft.com/office/officeart/2005/8/layout/process5"/>
    <dgm:cxn modelId="{17D76F53-80E4-460B-8E36-5B4BC9CE50C3}" type="presOf" srcId="{30FA96A1-1E31-4F91-BEC2-8F2BE4735381}" destId="{DD0EA55A-63FC-49E5-A66A-9D0A1ED71A67}" srcOrd="1" destOrd="0" presId="urn:microsoft.com/office/officeart/2005/8/layout/process5"/>
    <dgm:cxn modelId="{D2C9AD58-807C-4ACC-96A9-CC3345AABF3E}" type="presOf" srcId="{E0B33476-C898-42F3-8DDC-49DDB8C98D6A}" destId="{B8D64664-2BE6-44D2-88EC-1A7A7FEC56DC}" srcOrd="0" destOrd="0" presId="urn:microsoft.com/office/officeart/2005/8/layout/process5"/>
    <dgm:cxn modelId="{41674485-8B56-4C86-978B-CFAEFB798D61}" srcId="{C1B70F83-1990-414F-829E-434990000100}" destId="{851F5468-72F0-4230-A2C4-29F142105E92}" srcOrd="3" destOrd="0" parTransId="{317EFF3F-D770-44DD-9F80-4BE219B6A7F7}" sibTransId="{4E8BB472-8811-434B-93E6-8EF23A900F89}"/>
    <dgm:cxn modelId="{9B6A63A3-6487-43D1-A307-27CB23026463}" type="presOf" srcId="{40F6825B-3824-487D-85A7-246944EE3B35}" destId="{36FE1C76-43CD-45CD-A98A-E82053F0C527}" srcOrd="1" destOrd="0" presId="urn:microsoft.com/office/officeart/2005/8/layout/process5"/>
    <dgm:cxn modelId="{838616C6-BCD3-47D4-82F1-C6BFA5C8FAE1}" srcId="{C1B70F83-1990-414F-829E-434990000100}" destId="{B08A3EDF-99C7-4734-A9DC-58BFA1F3C1D0}" srcOrd="0" destOrd="0" parTransId="{D8E92C2A-4D55-46D4-9A9B-1699412DD737}" sibTransId="{40F6825B-3824-487D-85A7-246944EE3B35}"/>
    <dgm:cxn modelId="{3943B8E2-2BA0-432F-8048-E29E44A84948}" type="presOf" srcId="{30FA96A1-1E31-4F91-BEC2-8F2BE4735381}" destId="{A2746A57-EEFC-4BD2-8D92-44BECC2F5D45}" srcOrd="0" destOrd="0" presId="urn:microsoft.com/office/officeart/2005/8/layout/process5"/>
    <dgm:cxn modelId="{C65230E4-FE0A-41A7-B0F5-2D58B0B4FE59}" type="presOf" srcId="{8C6E840F-8A49-466E-AC1D-7CFE42C5B612}" destId="{B0A8846F-1F9A-4349-96FD-DCC0493304A1}" srcOrd="0" destOrd="0" presId="urn:microsoft.com/office/officeart/2005/8/layout/process5"/>
    <dgm:cxn modelId="{5D9061EF-BCA6-4D4F-A56D-8224CCFE0AEC}" type="presOf" srcId="{40F6825B-3824-487D-85A7-246944EE3B35}" destId="{0DF817BD-A645-496B-858C-258930EA9401}" srcOrd="0" destOrd="0" presId="urn:microsoft.com/office/officeart/2005/8/layout/process5"/>
    <dgm:cxn modelId="{7AFEB052-73CD-4660-A19D-19F488CF80D7}" type="presParOf" srcId="{DABDE69D-B1DA-4219-9C6D-D8EA5E61BA42}" destId="{020E7856-D462-4FA4-91E0-A96EEA155490}" srcOrd="0" destOrd="0" presId="urn:microsoft.com/office/officeart/2005/8/layout/process5"/>
    <dgm:cxn modelId="{DE0C4124-7129-42DC-8DA0-0BAECEF4B38D}" type="presParOf" srcId="{DABDE69D-B1DA-4219-9C6D-D8EA5E61BA42}" destId="{0DF817BD-A645-496B-858C-258930EA9401}" srcOrd="1" destOrd="0" presId="urn:microsoft.com/office/officeart/2005/8/layout/process5"/>
    <dgm:cxn modelId="{61A4D106-154B-44E2-ABEC-2CC5486CFF73}" type="presParOf" srcId="{0DF817BD-A645-496B-858C-258930EA9401}" destId="{36FE1C76-43CD-45CD-A98A-E82053F0C527}" srcOrd="0" destOrd="0" presId="urn:microsoft.com/office/officeart/2005/8/layout/process5"/>
    <dgm:cxn modelId="{1C2C215A-F2AB-4E67-B497-F84048EDFAB1}" type="presParOf" srcId="{DABDE69D-B1DA-4219-9C6D-D8EA5E61BA42}" destId="{B8D64664-2BE6-44D2-88EC-1A7A7FEC56DC}" srcOrd="2" destOrd="0" presId="urn:microsoft.com/office/officeart/2005/8/layout/process5"/>
    <dgm:cxn modelId="{A3896797-F864-4DA3-BA42-E8E19EB20FF7}" type="presParOf" srcId="{DABDE69D-B1DA-4219-9C6D-D8EA5E61BA42}" destId="{A2746A57-EEFC-4BD2-8D92-44BECC2F5D45}" srcOrd="3" destOrd="0" presId="urn:microsoft.com/office/officeart/2005/8/layout/process5"/>
    <dgm:cxn modelId="{1061AEAF-BA09-47B3-AAAC-259B869D9E06}" type="presParOf" srcId="{A2746A57-EEFC-4BD2-8D92-44BECC2F5D45}" destId="{DD0EA55A-63FC-49E5-A66A-9D0A1ED71A67}" srcOrd="0" destOrd="0" presId="urn:microsoft.com/office/officeart/2005/8/layout/process5"/>
    <dgm:cxn modelId="{A2060613-E07D-4269-B463-9C1E793D7470}" type="presParOf" srcId="{DABDE69D-B1DA-4219-9C6D-D8EA5E61BA42}" destId="{B0A8846F-1F9A-4349-96FD-DCC0493304A1}" srcOrd="4" destOrd="0" presId="urn:microsoft.com/office/officeart/2005/8/layout/process5"/>
    <dgm:cxn modelId="{3F3AAA96-77CF-4C5D-A719-8BCE80BF934E}" type="presParOf" srcId="{DABDE69D-B1DA-4219-9C6D-D8EA5E61BA42}" destId="{2B962A3B-BEDE-42F2-851C-3BD1836E2E3F}" srcOrd="5" destOrd="0" presId="urn:microsoft.com/office/officeart/2005/8/layout/process5"/>
    <dgm:cxn modelId="{7C668A43-B3BC-452B-ABD2-9520D36D7630}" type="presParOf" srcId="{2B962A3B-BEDE-42F2-851C-3BD1836E2E3F}" destId="{3F665D7C-04A5-4606-BA6F-E8644814A45F}" srcOrd="0" destOrd="0" presId="urn:microsoft.com/office/officeart/2005/8/layout/process5"/>
    <dgm:cxn modelId="{8740BACD-8137-4592-95C8-45C1E63D4F6D}" type="presParOf" srcId="{DABDE69D-B1DA-4219-9C6D-D8EA5E61BA42}" destId="{3C4F9EDD-401C-453F-9C64-04B93A53C4CB}"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E7856-D462-4FA4-91E0-A96EEA155490}">
      <dsp:nvSpPr>
        <dsp:cNvPr id="0" name=""/>
        <dsp:cNvSpPr/>
      </dsp:nvSpPr>
      <dsp:spPr>
        <a:xfrm>
          <a:off x="629596" y="1549"/>
          <a:ext cx="2000034" cy="1200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dirty="0">
              <a:latin typeface="Calibri"/>
            </a:rPr>
            <a:t> </a:t>
          </a:r>
          <a:r>
            <a:rPr lang="en-US" sz="3100" kern="1200">
              <a:latin typeface="Calibri"/>
            </a:rPr>
            <a:t>Planning</a:t>
          </a:r>
          <a:endParaRPr lang="en-US" sz="3100" kern="1200"/>
        </a:p>
      </dsp:txBody>
      <dsp:txXfrm>
        <a:off x="664743" y="36696"/>
        <a:ext cx="1929740" cy="1129726"/>
      </dsp:txXfrm>
    </dsp:sp>
    <dsp:sp modelId="{0DF817BD-A645-496B-858C-258930EA9401}">
      <dsp:nvSpPr>
        <dsp:cNvPr id="0" name=""/>
        <dsp:cNvSpPr/>
      </dsp:nvSpPr>
      <dsp:spPr>
        <a:xfrm>
          <a:off x="2805634" y="353555"/>
          <a:ext cx="424007" cy="49600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805634" y="452757"/>
        <a:ext cx="296805" cy="297604"/>
      </dsp:txXfrm>
    </dsp:sp>
    <dsp:sp modelId="{B8D64664-2BE6-44D2-88EC-1A7A7FEC56DC}">
      <dsp:nvSpPr>
        <dsp:cNvPr id="0" name=""/>
        <dsp:cNvSpPr/>
      </dsp:nvSpPr>
      <dsp:spPr>
        <a:xfrm>
          <a:off x="3429644" y="1549"/>
          <a:ext cx="2000034" cy="1200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dirty="0">
              <a:latin typeface="Calibri"/>
            </a:rPr>
            <a:t> </a:t>
          </a:r>
          <a:r>
            <a:rPr lang="en-US" sz="3100" kern="1200">
              <a:latin typeface="Calibri"/>
            </a:rPr>
            <a:t>Drafting</a:t>
          </a:r>
          <a:endParaRPr lang="en-US" sz="3100" kern="1200"/>
        </a:p>
      </dsp:txBody>
      <dsp:txXfrm>
        <a:off x="3464791" y="36696"/>
        <a:ext cx="1929740" cy="1129726"/>
      </dsp:txXfrm>
    </dsp:sp>
    <dsp:sp modelId="{A2746A57-EEFC-4BD2-8D92-44BECC2F5D45}">
      <dsp:nvSpPr>
        <dsp:cNvPr id="0" name=""/>
        <dsp:cNvSpPr/>
      </dsp:nvSpPr>
      <dsp:spPr>
        <a:xfrm rot="5400000">
          <a:off x="4217658" y="1341573"/>
          <a:ext cx="424007" cy="49600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5400000">
        <a:off x="4280860" y="1377573"/>
        <a:ext cx="297604" cy="296805"/>
      </dsp:txXfrm>
    </dsp:sp>
    <dsp:sp modelId="{B0A8846F-1F9A-4349-96FD-DCC0493304A1}">
      <dsp:nvSpPr>
        <dsp:cNvPr id="0" name=""/>
        <dsp:cNvSpPr/>
      </dsp:nvSpPr>
      <dsp:spPr>
        <a:xfrm>
          <a:off x="3429644" y="2001584"/>
          <a:ext cx="2000034" cy="1200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a:latin typeface="Calibri"/>
            </a:rPr>
            <a:t> Reviewing</a:t>
          </a:r>
          <a:endParaRPr lang="en-US" sz="3100" kern="1200"/>
        </a:p>
      </dsp:txBody>
      <dsp:txXfrm>
        <a:off x="3464791" y="2036731"/>
        <a:ext cx="1929740" cy="1129726"/>
      </dsp:txXfrm>
    </dsp:sp>
    <dsp:sp modelId="{2B962A3B-BEDE-42F2-851C-3BD1836E2E3F}">
      <dsp:nvSpPr>
        <dsp:cNvPr id="0" name=""/>
        <dsp:cNvSpPr/>
      </dsp:nvSpPr>
      <dsp:spPr>
        <a:xfrm rot="10800000">
          <a:off x="2829634" y="2353590"/>
          <a:ext cx="424007" cy="49600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2956836" y="2452792"/>
        <a:ext cx="296805" cy="297604"/>
      </dsp:txXfrm>
    </dsp:sp>
    <dsp:sp modelId="{3C4F9EDD-401C-453F-9C64-04B93A53C4CB}">
      <dsp:nvSpPr>
        <dsp:cNvPr id="0" name=""/>
        <dsp:cNvSpPr/>
      </dsp:nvSpPr>
      <dsp:spPr>
        <a:xfrm>
          <a:off x="629596" y="2001584"/>
          <a:ext cx="2000034" cy="1200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dirty="0">
              <a:latin typeface="Calibri"/>
            </a:rPr>
            <a:t> </a:t>
          </a:r>
          <a:r>
            <a:rPr lang="en-US" sz="3100" kern="1200">
              <a:latin typeface="Calibri"/>
            </a:rPr>
            <a:t>FINAL OUTPUT</a:t>
          </a:r>
          <a:endParaRPr lang="en-US" sz="3100" kern="1200"/>
        </a:p>
      </dsp:txBody>
      <dsp:txXfrm>
        <a:off x="664743" y="2036731"/>
        <a:ext cx="1929740" cy="112972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2" name="Title 1"/>
          <p:cNvSpPr>
            <a:spLocks noGrp="1"/>
          </p:cNvSpPr>
          <p:nvPr>
            <p:ph type="title"/>
          </p:nvPr>
        </p:nvSpPr>
        <p:spPr>
          <a:xfrm>
            <a:off x="4570578" y="1257300"/>
            <a:ext cx="4571554" cy="1381125"/>
          </a:xfrm>
        </p:spPr>
        <p:txBody>
          <a:bodyPr>
            <a:noAutofit/>
          </a:bodyPr>
          <a:lstStyle/>
          <a:p>
            <a:pPr>
              <a:lnSpc>
                <a:spcPct val="90000"/>
              </a:lnSpc>
            </a:pPr>
            <a:r>
              <a:rPr lang="en-US" sz="5400" b="1">
                <a:solidFill>
                  <a:srgbClr val="000000"/>
                </a:solidFill>
              </a:rPr>
              <a:t>Case Analysis: Maddison</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7" name="Graphic 6" descr="Teacher">
            <a:extLst>
              <a:ext uri="{FF2B5EF4-FFF2-40B4-BE49-F238E27FC236}">
                <a16:creationId xmlns:a16="http://schemas.microsoft.com/office/drawing/2014/main" id="{54B5AE27-9B7E-4EA3-10B0-F6F486AB34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9490" y="2079067"/>
            <a:ext cx="3026740" cy="3026740"/>
          </a:xfrm>
          <a:prstGeom prst="rect">
            <a:avLst/>
          </a:prstGeom>
        </p:spPr>
      </p:pic>
      <p:sp>
        <p:nvSpPr>
          <p:cNvPr id="3" name="Content Placeholder 2"/>
          <p:cNvSpPr>
            <a:spLocks noGrp="1"/>
          </p:cNvSpPr>
          <p:nvPr>
            <p:ph idx="1"/>
          </p:nvPr>
        </p:nvSpPr>
        <p:spPr>
          <a:xfrm>
            <a:off x="4570579" y="2947260"/>
            <a:ext cx="4003614" cy="2927188"/>
          </a:xfrm>
        </p:spPr>
        <p:txBody>
          <a:bodyPr anchor="ctr">
            <a:normAutofit/>
          </a:bodyPr>
          <a:lstStyle/>
          <a:p>
            <a:r>
              <a:rPr lang="en-US" sz="2400">
                <a:solidFill>
                  <a:srgbClr val="000000"/>
                </a:solidFill>
              </a:rPr>
              <a:t>Summative-Based Formative Assessment</a:t>
            </a:r>
          </a:p>
          <a:p>
            <a:endParaRPr lang="en-US" sz="2400">
              <a:solidFill>
                <a:srgbClr val="000000"/>
              </a:solidFill>
            </a:endParaRPr>
          </a:p>
          <a:p>
            <a:r>
              <a:rPr lang="en-US" sz="2400">
                <a:solidFill>
                  <a:srgbClr val="000000"/>
                </a:solidFill>
              </a:rPr>
              <a:t>Overview of issues and recommendations</a:t>
            </a:r>
          </a:p>
        </p:txBody>
      </p:sp>
      <p:sp>
        <p:nvSpPr>
          <p:cNvPr id="5" name="TextBox 4">
            <a:extLst>
              <a:ext uri="{FF2B5EF4-FFF2-40B4-BE49-F238E27FC236}">
                <a16:creationId xmlns:a16="http://schemas.microsoft.com/office/drawing/2014/main" id="{D23C9590-3276-8305-0E03-5095A2726082}"/>
              </a:ext>
            </a:extLst>
          </p:cNvPr>
          <p:cNvSpPr txBox="1"/>
          <p:nvPr/>
        </p:nvSpPr>
        <p:spPr>
          <a:xfrm>
            <a:off x="2150921" y="591933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itle 1">
            <a:extLst>
              <a:ext uri="{FF2B5EF4-FFF2-40B4-BE49-F238E27FC236}">
                <a16:creationId xmlns:a16="http://schemas.microsoft.com/office/drawing/2014/main" id="{7EFED2D7-479F-6AF8-A557-CB8926C6249B}"/>
              </a:ext>
            </a:extLst>
          </p:cNvPr>
          <p:cNvSpPr txBox="1">
            <a:spLocks/>
          </p:cNvSpPr>
          <p:nvPr/>
        </p:nvSpPr>
        <p:spPr>
          <a:xfrm>
            <a:off x="-207610" y="4412876"/>
            <a:ext cx="4571554" cy="138112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1600" b="1">
                <a:solidFill>
                  <a:srgbClr val="000000"/>
                </a:solidFill>
              </a:rPr>
              <a:t>BY: JHOMIE ROSE B. ANTES</a:t>
            </a:r>
            <a:endParaRPr lang="en-US" sz="1600" b="1">
              <a:solidFill>
                <a:srgbClr val="000000"/>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hand holding a pen and shading circles on a sheet">
            <a:extLst>
              <a:ext uri="{FF2B5EF4-FFF2-40B4-BE49-F238E27FC236}">
                <a16:creationId xmlns:a16="http://schemas.microsoft.com/office/drawing/2014/main" id="{2D41235A-5657-A024-0B0E-DD6A4BCC9606}"/>
              </a:ext>
            </a:extLst>
          </p:cNvPr>
          <p:cNvPicPr>
            <a:picLocks noChangeAspect="1"/>
          </p:cNvPicPr>
          <p:nvPr/>
        </p:nvPicPr>
        <p:blipFill>
          <a:blip r:embed="rId2"/>
          <a:srcRect l="17059" r="5364" b="-2"/>
          <a:stretch>
            <a:fillRect/>
          </a:stretch>
        </p:blipFill>
        <p:spPr>
          <a:xfrm>
            <a:off x="-2585" y="-1"/>
            <a:ext cx="9146585"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64451" y="791834"/>
            <a:ext cx="3020876" cy="9154947"/>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4" y="0"/>
            <a:ext cx="2132551"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9028" y="21736"/>
            <a:ext cx="2364646"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5" y="5288433"/>
            <a:ext cx="9149779"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5100" y="2905286"/>
            <a:ext cx="3866773" cy="4082144"/>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4271" y="4121944"/>
            <a:ext cx="5945838" cy="1620665"/>
          </a:xfrm>
        </p:spPr>
        <p:txBody>
          <a:bodyPr vert="horz" lIns="91440" tIns="45720" rIns="91440" bIns="45720" rtlCol="0" anchor="b">
            <a:normAutofit/>
          </a:bodyPr>
          <a:lstStyle/>
          <a:p>
            <a:pPr algn="l" defTabSz="914400">
              <a:lnSpc>
                <a:spcPct val="90000"/>
              </a:lnSpc>
            </a:pPr>
            <a:r>
              <a:rPr lang="en-US" sz="3500">
                <a:solidFill>
                  <a:srgbClr val="FFFFFF"/>
                </a:solidFill>
              </a:rPr>
              <a:t>Overarching Problem</a:t>
            </a:r>
          </a:p>
        </p:txBody>
      </p:sp>
      <p:sp>
        <p:nvSpPr>
          <p:cNvPr id="3" name="Content Placeholder 2"/>
          <p:cNvSpPr>
            <a:spLocks noGrp="1"/>
          </p:cNvSpPr>
          <p:nvPr>
            <p:ph idx="1"/>
          </p:nvPr>
        </p:nvSpPr>
        <p:spPr>
          <a:xfrm>
            <a:off x="644271" y="5751638"/>
            <a:ext cx="8201471" cy="604708"/>
          </a:xfrm>
        </p:spPr>
        <p:txBody>
          <a:bodyPr vert="horz" lIns="91440" tIns="45720" rIns="91440" bIns="45720" rtlCol="0">
            <a:normAutofit/>
          </a:bodyPr>
          <a:lstStyle/>
          <a:p>
            <a:pPr marL="0" indent="0" defTabSz="914400">
              <a:lnSpc>
                <a:spcPct val="90000"/>
              </a:lnSpc>
              <a:spcBef>
                <a:spcPts val="1000"/>
              </a:spcBef>
              <a:buNone/>
            </a:pPr>
            <a:r>
              <a:rPr lang="en-US" sz="2000">
                <a:solidFill>
                  <a:srgbClr val="FFFFFF"/>
                </a:solidFill>
              </a:rPr>
              <a:t>Assessment is used mainly for grading rather than improving learning.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15FDCEA-99F0-444C-F2EA-90DCA612D7E2}"/>
              </a:ext>
            </a:extLst>
          </p:cNvPr>
          <p:cNvSpPr txBox="1"/>
          <p:nvPr/>
        </p:nvSpPr>
        <p:spPr>
          <a:xfrm>
            <a:off x="3607694" y="649480"/>
            <a:ext cx="4916510" cy="554604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914400">
              <a:lnSpc>
                <a:spcPct val="90000"/>
              </a:lnSpc>
              <a:spcAft>
                <a:spcPts val="600"/>
              </a:spcAft>
            </a:pPr>
            <a:r>
              <a:rPr lang="en-US" sz="2000" b="1"/>
              <a:t>1. What is the overarching problem with the main character’s use of summative-based formative assessment?</a:t>
            </a:r>
            <a:endParaRPr lang="en-US"/>
          </a:p>
          <a:p>
            <a:pPr indent="-228600" defTabSz="914400">
              <a:lnSpc>
                <a:spcPct val="90000"/>
              </a:lnSpc>
              <a:spcAft>
                <a:spcPts val="600"/>
              </a:spcAft>
              <a:buFont typeface="Arial" panose="020B0604020202020204" pitchFamily="34" charset="0"/>
              <a:buChar char="•"/>
            </a:pPr>
            <a:endParaRPr lang="en-US" sz="1600" b="1"/>
          </a:p>
          <a:p>
            <a:pPr indent="-228600" defTabSz="914400">
              <a:lnSpc>
                <a:spcPct val="90000"/>
              </a:lnSpc>
              <a:spcAft>
                <a:spcPts val="600"/>
              </a:spcAft>
              <a:buFont typeface="Arial" panose="020B0604020202020204" pitchFamily="34" charset="0"/>
              <a:buChar char="•"/>
            </a:pPr>
            <a:r>
              <a:rPr lang="en-US" sz="1600"/>
              <a:t>The overarching problem is that the main character is misusing formative assessment by treating it like a summative assessment, which defeats its purpose of supporting learning. Instead of using formative assessment to give ongoing feedback and help students improve, she focuses on grading outputs in a final and rigid way. This results in students feeling pressured by scores rather than being guided by feedback for improvement. As a consequence, the assessment no longer supports learning development but instead functions as a performance measure, which reduces student engagement and limits meaningful learning growth.</a:t>
            </a:r>
          </a:p>
          <a:p>
            <a:pPr indent="-228600" defTabSz="914400">
              <a:lnSpc>
                <a:spcPct val="90000"/>
              </a:lnSpc>
              <a:spcAft>
                <a:spcPts val="600"/>
              </a:spcAft>
              <a:buFont typeface="Arial" panose="020B0604020202020204" pitchFamily="34" charset="0"/>
              <a:buChar char="•"/>
            </a:pPr>
            <a:r>
              <a:rPr lang="en-US" sz="1600"/>
              <a:t>Formative assessment should primarily be used to monitor learning progress, provide feedback, and adjust instruction, while summative assessment evaluates learning at the end of instruction. Mixing these without proper purpose weakens both processes.</a:t>
            </a:r>
          </a:p>
          <a:p>
            <a:pPr indent="-228600" defTabSz="914400">
              <a:lnSpc>
                <a:spcPct val="90000"/>
              </a:lnSpc>
              <a:spcAft>
                <a:spcPts val="600"/>
              </a:spcAft>
              <a:buFont typeface="Arial" panose="020B0604020202020204" pitchFamily="34" charset="0"/>
              <a:buChar char="•"/>
            </a:pPr>
            <a:endParaRPr lang="en-US" sz="1600"/>
          </a:p>
        </p:txBody>
      </p:sp>
    </p:spTree>
    <p:extLst>
      <p:ext uri="{BB962C8B-B14F-4D97-AF65-F5344CB8AC3E}">
        <p14:creationId xmlns:p14="http://schemas.microsoft.com/office/powerpoint/2010/main" val="305684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6000" b="1"/>
              <a:t>Key Issues</a:t>
            </a:r>
            <a:endParaRPr lang="en-US" sz="6000" b="1">
              <a:ea typeface="Calibri"/>
              <a:cs typeface="Calibri"/>
            </a:endParaRPr>
          </a:p>
        </p:txBody>
      </p:sp>
      <p:sp>
        <p:nvSpPr>
          <p:cNvPr id="3" name="Content Placeholder 2"/>
          <p:cNvSpPr>
            <a:spLocks noGrp="1"/>
          </p:cNvSpPr>
          <p:nvPr>
            <p:ph idx="1"/>
          </p:nvPr>
        </p:nvSpPr>
        <p:spPr>
          <a:xfrm>
            <a:off x="543809" y="2481549"/>
            <a:ext cx="3485179" cy="3613149"/>
          </a:xfrm>
        </p:spPr>
        <p:txBody>
          <a:bodyPr anchor="ctr">
            <a:normAutofit/>
          </a:bodyPr>
          <a:lstStyle/>
          <a:p>
            <a:r>
              <a:rPr lang="en-US" sz="2800"/>
              <a:t>- Focus on final scores</a:t>
            </a:r>
          </a:p>
          <a:p>
            <a:r>
              <a:rPr lang="en-US" sz="2800"/>
              <a:t>- Limited feedback</a:t>
            </a:r>
          </a:p>
          <a:p>
            <a:r>
              <a:rPr lang="en-US" sz="2800"/>
              <a:t>- No revision opportunities</a:t>
            </a:r>
          </a:p>
          <a:p>
            <a:r>
              <a:rPr lang="en-US" sz="2800"/>
              <a:t>- Assessment used to judge, not guide</a:t>
            </a:r>
          </a:p>
        </p:txBody>
      </p:sp>
      <p:pic>
        <p:nvPicPr>
          <p:cNvPr id="5" name="Picture 4" descr="Pen placed on top of a signature line">
            <a:extLst>
              <a:ext uri="{FF2B5EF4-FFF2-40B4-BE49-F238E27FC236}">
                <a16:creationId xmlns:a16="http://schemas.microsoft.com/office/drawing/2014/main" id="{55E309E8-7654-028B-094B-8F59AEB284B0}"/>
              </a:ext>
            </a:extLst>
          </p:cNvPr>
          <p:cNvPicPr>
            <a:picLocks noChangeAspect="1"/>
          </p:cNvPicPr>
          <p:nvPr/>
        </p:nvPicPr>
        <p:blipFill>
          <a:blip r:embed="rId2"/>
          <a:srcRect l="53741" r="1774" b="-3"/>
          <a:stretch>
            <a:fillRect/>
          </a:stretch>
        </p:blipFill>
        <p:spPr>
          <a:xfrm>
            <a:off x="4572000" y="1"/>
            <a:ext cx="4577118"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wall painted with an arrow and a dartboard">
            <a:extLst>
              <a:ext uri="{FF2B5EF4-FFF2-40B4-BE49-F238E27FC236}">
                <a16:creationId xmlns:a16="http://schemas.microsoft.com/office/drawing/2014/main" id="{92CDD584-6E2A-A743-B30D-74198760081C}"/>
              </a:ext>
            </a:extLst>
          </p:cNvPr>
          <p:cNvPicPr>
            <a:picLocks noChangeAspect="1"/>
          </p:cNvPicPr>
          <p:nvPr/>
        </p:nvPicPr>
        <p:blipFill>
          <a:blip r:embed="rId2"/>
          <a:srcRect l="5159" r="6" b="6"/>
          <a:stretch>
            <a:fillRect/>
          </a:stretch>
        </p:blipFill>
        <p:spPr>
          <a:xfrm>
            <a:off x="20" y="-7619"/>
            <a:ext cx="9143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20"/>
            <a:ext cx="4174944"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08502" y="1500874"/>
            <a:ext cx="6887365" cy="3870356"/>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48"/>
            <a:ext cx="1559634"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780082" y="3068761"/>
            <a:ext cx="3378495"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580917" y="-6485"/>
            <a:ext cx="257037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38276" y="464574"/>
            <a:ext cx="3682024" cy="9158579"/>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7639"/>
            <a:ext cx="3659866"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1982" y="-1122330"/>
            <a:ext cx="4194318" cy="2839273"/>
          </a:xfrm>
        </p:spPr>
        <p:txBody>
          <a:bodyPr vert="horz" lIns="91440" tIns="45720" rIns="91440" bIns="45720" rtlCol="0" anchor="b">
            <a:normAutofit/>
          </a:bodyPr>
          <a:lstStyle/>
          <a:p>
            <a:pPr algn="l" defTabSz="914400">
              <a:lnSpc>
                <a:spcPct val="90000"/>
              </a:lnSpc>
            </a:pPr>
            <a:r>
              <a:rPr lang="en-US" sz="4800" b="1">
                <a:solidFill>
                  <a:srgbClr val="FFFFFF"/>
                </a:solidFill>
              </a:rPr>
              <a:t>Goal for Improvement</a:t>
            </a:r>
          </a:p>
        </p:txBody>
      </p:sp>
      <p:sp>
        <p:nvSpPr>
          <p:cNvPr id="3" name="Content Placeholder 2"/>
          <p:cNvSpPr>
            <a:spLocks noGrp="1"/>
          </p:cNvSpPr>
          <p:nvPr>
            <p:ph idx="1"/>
          </p:nvPr>
        </p:nvSpPr>
        <p:spPr>
          <a:xfrm>
            <a:off x="644271" y="5166367"/>
            <a:ext cx="5557655" cy="850998"/>
          </a:xfrm>
        </p:spPr>
        <p:txBody>
          <a:bodyPr vert="horz" lIns="91440" tIns="45720" rIns="91440" bIns="45720" rtlCol="0" anchor="t">
            <a:noAutofit/>
          </a:bodyPr>
          <a:lstStyle/>
          <a:p>
            <a:pPr marL="0" indent="0" defTabSz="914400">
              <a:lnSpc>
                <a:spcPct val="90000"/>
              </a:lnSpc>
              <a:spcBef>
                <a:spcPts val="1000"/>
              </a:spcBef>
              <a:buNone/>
            </a:pPr>
            <a:r>
              <a:rPr lang="en-US">
                <a:solidFill>
                  <a:srgbClr val="FFFFFF"/>
                </a:solidFill>
              </a:rPr>
              <a:t>Shift from 'Assessment OF Learning' to 'Assessment FOR Learning'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6454F9-7AB9-F335-A926-503386CD01E9}"/>
              </a:ext>
            </a:extLst>
          </p:cNvPr>
          <p:cNvSpPr txBox="1"/>
          <p:nvPr/>
        </p:nvSpPr>
        <p:spPr>
          <a:xfrm>
            <a:off x="87791" y="395373"/>
            <a:ext cx="4385268" cy="452021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indent="-228600" defTabSz="914400">
              <a:lnSpc>
                <a:spcPct val="90000"/>
              </a:lnSpc>
              <a:spcAft>
                <a:spcPts val="600"/>
              </a:spcAft>
              <a:buFont typeface="Arial" panose="020B0604020202020204" pitchFamily="34" charset="0"/>
              <a:buChar char="•"/>
            </a:pPr>
            <a:r>
              <a:rPr lang="en-US" sz="1600" b="1"/>
              <a:t>2. How would you advise the main character to improve her summative-based formative assessment practice?</a:t>
            </a:r>
            <a:endParaRPr lang="en-US" sz="1600" b="1">
              <a:ea typeface="Calibri"/>
              <a:cs typeface="Calibri"/>
            </a:endParaRPr>
          </a:p>
          <a:p>
            <a:pPr indent="-228600" defTabSz="914400">
              <a:lnSpc>
                <a:spcPct val="90000"/>
              </a:lnSpc>
              <a:spcAft>
                <a:spcPts val="600"/>
              </a:spcAft>
              <a:buFont typeface="Arial" panose="020B0604020202020204" pitchFamily="34" charset="0"/>
              <a:buChar char="•"/>
            </a:pPr>
            <a:r>
              <a:rPr lang="en-US" sz="1600"/>
              <a:t>I would advise the main character to clearly separate the roles of formative and summative assessment and ensure that formative tasks are designed to support learning rather than merely produce grades. She should focus on giving timely, specific, and constructive feedback that helps students understand their strengths and areas for improvement instead of immediately assigning high-stakes scores.</a:t>
            </a:r>
            <a:endParaRPr lang="en-US" sz="1600">
              <a:ea typeface="Calibri"/>
              <a:cs typeface="Calibri"/>
            </a:endParaRPr>
          </a:p>
          <a:p>
            <a:pPr indent="-228600" defTabSz="914400">
              <a:lnSpc>
                <a:spcPct val="90000"/>
              </a:lnSpc>
              <a:spcAft>
                <a:spcPts val="600"/>
              </a:spcAft>
              <a:buFont typeface="Arial" panose="020B0604020202020204" pitchFamily="34" charset="0"/>
              <a:buChar char="•"/>
            </a:pPr>
            <a:r>
              <a:rPr lang="en-US" sz="1600"/>
              <a:t>She can also improve her practice by using formative assessment strategies such as self-assessment, peer feedback, reflective journals, and classroom discussions before final evaluations. In addition, she should use formative results to adjust her teaching strategies and provide remediation when needed. This approach ensures that students see assessment as part of learning rather than only as a grading tool.</a:t>
            </a:r>
            <a:endParaRPr lang="en-US" sz="1600">
              <a:ea typeface="Calibri"/>
              <a:cs typeface="Calibri"/>
            </a:endParaRPr>
          </a:p>
          <a:p>
            <a:pPr indent="-228600" defTabSz="914400">
              <a:lnSpc>
                <a:spcPct val="90000"/>
              </a:lnSpc>
              <a:spcAft>
                <a:spcPts val="600"/>
              </a:spcAft>
              <a:buFont typeface="Arial" panose="020B0604020202020204" pitchFamily="34" charset="0"/>
              <a:buChar char="•"/>
            </a:pPr>
            <a:r>
              <a:rPr lang="en-US" sz="1600"/>
              <a:t>By aligning formative assessment with learning goals and using it as a guide for improvement, she can create a more supportive and effective learning environment for students.</a:t>
            </a:r>
            <a:endParaRPr lang="en-US" sz="1600">
              <a:ea typeface="Calibri"/>
              <a:cs typeface="Calibri"/>
            </a:endParaRPr>
          </a:p>
        </p:txBody>
      </p:sp>
      <p:sp>
        <p:nvSpPr>
          <p:cNvPr id="9" name="Freeform: Shape 8">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9600" y="0"/>
            <a:ext cx="4724400" cy="4919011"/>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 name="Freeform: Shape 10">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561" y="1505"/>
            <a:ext cx="4583439" cy="4762908"/>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pic>
        <p:nvPicPr>
          <p:cNvPr id="6" name="Graphic 5" descr="Classroom">
            <a:extLst>
              <a:ext uri="{FF2B5EF4-FFF2-40B4-BE49-F238E27FC236}">
                <a16:creationId xmlns:a16="http://schemas.microsoft.com/office/drawing/2014/main" id="{C5D584CB-68AF-EA58-47A5-C64B801B79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62767" y="485518"/>
            <a:ext cx="3197870" cy="3197870"/>
          </a:xfrm>
          <a:prstGeom prst="rect">
            <a:avLst/>
          </a:prstGeom>
        </p:spPr>
      </p:pic>
    </p:spTree>
    <p:extLst>
      <p:ext uri="{BB962C8B-B14F-4D97-AF65-F5344CB8AC3E}">
        <p14:creationId xmlns:p14="http://schemas.microsoft.com/office/powerpoint/2010/main" val="14673365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Red toy person in front of two lines of white figures">
            <a:extLst>
              <a:ext uri="{FF2B5EF4-FFF2-40B4-BE49-F238E27FC236}">
                <a16:creationId xmlns:a16="http://schemas.microsoft.com/office/drawing/2014/main" id="{9CBB2136-76F7-B23D-8491-508936F0DA18}"/>
              </a:ext>
            </a:extLst>
          </p:cNvPr>
          <p:cNvPicPr>
            <a:picLocks noChangeAspect="1"/>
          </p:cNvPicPr>
          <p:nvPr/>
        </p:nvPicPr>
        <p:blipFill>
          <a:blip r:embed="rId2"/>
          <a:srcRect l="7849" r="4330" b="5"/>
          <a:stretch>
            <a:fillRect/>
          </a:stretch>
        </p:blipFill>
        <p:spPr>
          <a:xfrm>
            <a:off x="20" y="10"/>
            <a:ext cx="9143980" cy="6857990"/>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950" y="1860919"/>
            <a:ext cx="3731460"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67896" y="2299176"/>
            <a:ext cx="3098526" cy="1571164"/>
          </a:xfrm>
        </p:spPr>
        <p:txBody>
          <a:bodyPr vert="horz" lIns="91440" tIns="45720" rIns="91440" bIns="45720" rtlCol="0" anchor="t">
            <a:normAutofit/>
          </a:bodyPr>
          <a:lstStyle/>
          <a:p>
            <a:pPr algn="l" defTabSz="914400">
              <a:lnSpc>
                <a:spcPct val="90000"/>
              </a:lnSpc>
            </a:pPr>
            <a:r>
              <a:rPr lang="en-US" sz="3100" b="1"/>
              <a:t>Recommendation 1: Feedback</a:t>
            </a:r>
          </a:p>
        </p:txBody>
      </p:sp>
      <p:sp>
        <p:nvSpPr>
          <p:cNvPr id="3" name="Content Placeholder 2"/>
          <p:cNvSpPr>
            <a:spLocks noGrp="1"/>
          </p:cNvSpPr>
          <p:nvPr>
            <p:ph idx="1"/>
          </p:nvPr>
        </p:nvSpPr>
        <p:spPr>
          <a:xfrm>
            <a:off x="1251161" y="4281840"/>
            <a:ext cx="3749881" cy="694945"/>
          </a:xfrm>
        </p:spPr>
        <p:txBody>
          <a:bodyPr vert="horz" lIns="91440" tIns="45720" rIns="91440" bIns="45720" rtlCol="0" anchor="ctr">
            <a:noAutofit/>
          </a:bodyPr>
          <a:lstStyle/>
          <a:p>
            <a:pPr marL="0" indent="0" defTabSz="914400">
              <a:lnSpc>
                <a:spcPct val="90000"/>
              </a:lnSpc>
              <a:spcBef>
                <a:spcPts val="1000"/>
              </a:spcBef>
              <a:buNone/>
            </a:pPr>
            <a:r>
              <a:rPr lang="en-US" sz="2400"/>
              <a:t>Provide timely, specific feedback to guide student improvement</a:t>
            </a:r>
          </a:p>
        </p:txBody>
      </p:sp>
      <p:cxnSp>
        <p:nvCxnSpPr>
          <p:cNvPr id="11" name="Straight Connector 10">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52377" y="403477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hand holding a pen and shading circles on a sheet">
            <a:extLst>
              <a:ext uri="{FF2B5EF4-FFF2-40B4-BE49-F238E27FC236}">
                <a16:creationId xmlns:a16="http://schemas.microsoft.com/office/drawing/2014/main" id="{CF094729-2A0B-3FFB-4B18-15927A8617F4}"/>
              </a:ext>
            </a:extLst>
          </p:cNvPr>
          <p:cNvPicPr>
            <a:picLocks noChangeAspect="1"/>
          </p:cNvPicPr>
          <p:nvPr/>
        </p:nvPicPr>
        <p:blipFill>
          <a:blip r:embed="rId2"/>
          <a:srcRect l="16946" r="5256" b="2"/>
          <a:stretch>
            <a:fillRect/>
          </a:stretch>
        </p:blipFill>
        <p:spPr>
          <a:xfrm>
            <a:off x="20" y="10"/>
            <a:ext cx="9143980" cy="6857990"/>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950" y="1860919"/>
            <a:ext cx="3731460"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67896" y="2299176"/>
            <a:ext cx="3098526" cy="1571164"/>
          </a:xfrm>
        </p:spPr>
        <p:txBody>
          <a:bodyPr vert="horz" lIns="91440" tIns="45720" rIns="91440" bIns="45720" rtlCol="0" anchor="t">
            <a:normAutofit/>
          </a:bodyPr>
          <a:lstStyle/>
          <a:p>
            <a:pPr algn="l" defTabSz="914400">
              <a:lnSpc>
                <a:spcPct val="90000"/>
              </a:lnSpc>
            </a:pPr>
            <a:r>
              <a:rPr lang="en-US" sz="3100" b="1"/>
              <a:t>Recommendation 2: Revision</a:t>
            </a:r>
          </a:p>
        </p:txBody>
      </p:sp>
      <p:sp>
        <p:nvSpPr>
          <p:cNvPr id="3" name="Content Placeholder 2"/>
          <p:cNvSpPr>
            <a:spLocks noGrp="1"/>
          </p:cNvSpPr>
          <p:nvPr>
            <p:ph idx="1"/>
          </p:nvPr>
        </p:nvSpPr>
        <p:spPr>
          <a:xfrm>
            <a:off x="1264932" y="4281840"/>
            <a:ext cx="3722339" cy="694945"/>
          </a:xfrm>
        </p:spPr>
        <p:txBody>
          <a:bodyPr vert="horz" lIns="91440" tIns="45720" rIns="91440" bIns="45720" rtlCol="0" anchor="ctr">
            <a:noAutofit/>
          </a:bodyPr>
          <a:lstStyle/>
          <a:p>
            <a:pPr marL="0" indent="0" defTabSz="914400">
              <a:lnSpc>
                <a:spcPct val="90000"/>
              </a:lnSpc>
              <a:spcBef>
                <a:spcPts val="1000"/>
              </a:spcBef>
              <a:buNone/>
            </a:pPr>
            <a:r>
              <a:rPr lang="en-US" sz="2400"/>
              <a:t>Allow drafts and revisions before final grading</a:t>
            </a:r>
          </a:p>
        </p:txBody>
      </p:sp>
      <p:cxnSp>
        <p:nvCxnSpPr>
          <p:cNvPr id="11" name="Straight Connector 10">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52377" y="403477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963192"/>
            <a:ext cx="8229600" cy="1032832"/>
          </a:xfrm>
          <a:solidFill>
            <a:schemeClr val="bg1">
              <a:lumMod val="85000"/>
            </a:schemeClr>
          </a:solidFill>
          <a:ln>
            <a:noFill/>
          </a:ln>
        </p:spPr>
        <p:txBody>
          <a:bodyPr>
            <a:normAutofit fontScale="90000"/>
          </a:bodyPr>
          <a:lstStyle/>
          <a:p>
            <a:r>
              <a:rPr b="1"/>
              <a:t>Recommendation 3: Process-Based Assessment</a:t>
            </a:r>
            <a:endParaRPr lang="en-US" b="1">
              <a:ea typeface="Calibri"/>
              <a:cs typeface="Calibri"/>
            </a:endParaRPr>
          </a:p>
        </p:txBody>
      </p:sp>
      <p:sp>
        <p:nvSpPr>
          <p:cNvPr id="3" name="Content Placeholder 2"/>
          <p:cNvSpPr>
            <a:spLocks noGrp="1"/>
          </p:cNvSpPr>
          <p:nvPr>
            <p:ph idx="1"/>
          </p:nvPr>
        </p:nvSpPr>
        <p:spPr>
          <a:xfrm>
            <a:off x="457200" y="2178585"/>
            <a:ext cx="8229600" cy="725144"/>
          </a:xfrm>
        </p:spPr>
        <p:txBody>
          <a:bodyPr vert="horz" lIns="91440" tIns="45720" rIns="91440" bIns="45720" rtlCol="0" anchor="t">
            <a:normAutofit/>
          </a:bodyPr>
          <a:lstStyle/>
          <a:p>
            <a:pPr marL="0" indent="0">
              <a:buNone/>
            </a:pPr>
            <a:r>
              <a:t>Break tasks into stages:</a:t>
            </a:r>
            <a:endParaRPr lang="en-US">
              <a:ea typeface="Calibri"/>
              <a:cs typeface="Calibri"/>
            </a:endParaRPr>
          </a:p>
        </p:txBody>
      </p:sp>
      <p:graphicFrame>
        <p:nvGraphicFramePr>
          <p:cNvPr id="7" name="Diagram 6">
            <a:extLst>
              <a:ext uri="{FF2B5EF4-FFF2-40B4-BE49-F238E27FC236}">
                <a16:creationId xmlns:a16="http://schemas.microsoft.com/office/drawing/2014/main" id="{10A324C6-1491-E4C1-1B90-92E395C5E185}"/>
              </a:ext>
            </a:extLst>
          </p:cNvPr>
          <p:cNvGraphicFramePr/>
          <p:nvPr>
            <p:extLst>
              <p:ext uri="{D42A27DB-BD31-4B8C-83A1-F6EECF244321}">
                <p14:modId xmlns:p14="http://schemas.microsoft.com/office/powerpoint/2010/main" val="1058606883"/>
              </p:ext>
            </p:extLst>
          </p:nvPr>
        </p:nvGraphicFramePr>
        <p:xfrm>
          <a:off x="771181" y="3252730"/>
          <a:ext cx="6059276" cy="3203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10803" y="852603"/>
            <a:ext cx="14304626" cy="1269573"/>
          </a:xfrm>
        </p:spPr>
        <p:txBody>
          <a:bodyPr vert="horz" lIns="91440" tIns="45720" rIns="91440" bIns="45720" rtlCol="0" anchor="t">
            <a:noAutofit/>
          </a:bodyPr>
          <a:lstStyle/>
          <a:p>
            <a:pPr algn="l" defTabSz="914400">
              <a:lnSpc>
                <a:spcPct val="90000"/>
              </a:lnSpc>
            </a:pPr>
            <a:r>
              <a:rPr lang="en-US" sz="4800" b="1" kern="1200">
                <a:solidFill>
                  <a:schemeClr val="tx2"/>
                </a:solidFill>
                <a:latin typeface="+mj-lt"/>
                <a:ea typeface="+mj-ea"/>
                <a:cs typeface="+mj-cs"/>
              </a:rPr>
              <a:t>Recommendation 4: Student Involvement</a:t>
            </a:r>
          </a:p>
        </p:txBody>
      </p:sp>
      <p:sp>
        <p:nvSpPr>
          <p:cNvPr id="3" name="Content Placeholder 2"/>
          <p:cNvSpPr>
            <a:spLocks noGrp="1"/>
          </p:cNvSpPr>
          <p:nvPr>
            <p:ph idx="1"/>
          </p:nvPr>
        </p:nvSpPr>
        <p:spPr>
          <a:xfrm>
            <a:off x="5012079" y="3883445"/>
            <a:ext cx="3604268" cy="838831"/>
          </a:xfrm>
        </p:spPr>
        <p:txBody>
          <a:bodyPr vert="horz" lIns="91440" tIns="45720" rIns="91440" bIns="45720" rtlCol="0" anchor="b">
            <a:noAutofit/>
          </a:bodyPr>
          <a:lstStyle/>
          <a:p>
            <a:pPr marL="0" indent="0" defTabSz="914400">
              <a:lnSpc>
                <a:spcPct val="90000"/>
              </a:lnSpc>
              <a:spcBef>
                <a:spcPts val="1000"/>
              </a:spcBef>
              <a:buNone/>
            </a:pPr>
            <a:r>
              <a:rPr lang="en-US" kern="1200">
                <a:solidFill>
                  <a:schemeClr val="tx2"/>
                </a:solidFill>
                <a:latin typeface="+mn-lt"/>
                <a:ea typeface="+mn-ea"/>
                <a:cs typeface="+mn-cs"/>
              </a:rPr>
              <a:t>Use self-assessment and peer assessment to deepen learning</a:t>
            </a:r>
          </a:p>
        </p:txBody>
      </p:sp>
      <p:pic>
        <p:nvPicPr>
          <p:cNvPr id="7" name="Graphic 6" descr="Teacher">
            <a:extLst>
              <a:ext uri="{FF2B5EF4-FFF2-40B4-BE49-F238E27FC236}">
                <a16:creationId xmlns:a16="http://schemas.microsoft.com/office/drawing/2014/main" id="{EDCD2466-A93B-AB5B-550C-12C0B83EDE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479160" y="390525"/>
            <a:ext cx="8182230" cy="1510301"/>
          </a:xfrm>
        </p:spPr>
        <p:txBody>
          <a:bodyPr vert="horz" lIns="91440" tIns="45720" rIns="91440" bIns="45720" rtlCol="0" anchor="ctr">
            <a:normAutofit/>
          </a:bodyPr>
          <a:lstStyle/>
          <a:p>
            <a:pPr defTabSz="914400">
              <a:lnSpc>
                <a:spcPct val="90000"/>
              </a:lnSpc>
            </a:pPr>
            <a:r>
              <a:rPr lang="en-US" sz="4800" b="1" kern="1200">
                <a:solidFill>
                  <a:srgbClr val="FFFFFF"/>
                </a:solidFill>
                <a:latin typeface="+mj-lt"/>
                <a:ea typeface="+mj-ea"/>
                <a:cs typeface="+mj-cs"/>
              </a:rPr>
              <a:t>Recommendation 5: Alignment</a:t>
            </a:r>
          </a:p>
        </p:txBody>
      </p:sp>
      <p:sp>
        <p:nvSpPr>
          <p:cNvPr id="3" name="Content Placeholder 2"/>
          <p:cNvSpPr>
            <a:spLocks noGrp="1"/>
          </p:cNvSpPr>
          <p:nvPr>
            <p:ph idx="1"/>
          </p:nvPr>
        </p:nvSpPr>
        <p:spPr>
          <a:xfrm>
            <a:off x="946073" y="2052308"/>
            <a:ext cx="7248406" cy="662542"/>
          </a:xfrm>
        </p:spPr>
        <p:txBody>
          <a:bodyPr vert="horz" lIns="91440" tIns="45720" rIns="91440" bIns="45720" rtlCol="0" anchor="ctr">
            <a:noAutofit/>
          </a:bodyPr>
          <a:lstStyle/>
          <a:p>
            <a:pPr marL="0" indent="0" algn="ctr" defTabSz="914400">
              <a:lnSpc>
                <a:spcPct val="90000"/>
              </a:lnSpc>
              <a:spcBef>
                <a:spcPts val="1000"/>
              </a:spcBef>
              <a:buNone/>
            </a:pPr>
            <a:r>
              <a:rPr lang="en-US" kern="1200">
                <a:solidFill>
                  <a:srgbClr val="FFFFFF"/>
                </a:solidFill>
                <a:latin typeface="+mn-lt"/>
                <a:ea typeface="+mn-ea"/>
                <a:cs typeface="+mn-cs"/>
              </a:rPr>
              <a:t>Align assessments with learning goals and use clear rubrics</a:t>
            </a:r>
          </a:p>
        </p:txBody>
      </p:sp>
      <p:sp>
        <p:nvSpPr>
          <p:cNvPr id="13"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1753266"/>
            <a:ext cx="3182692" cy="18288"/>
          </a:xfrm>
          <a:custGeom>
            <a:avLst/>
            <a:gdLst>
              <a:gd name="csX0" fmla="*/ 0 w 3182692"/>
              <a:gd name="csY0" fmla="*/ 0 h 18288"/>
              <a:gd name="csX1" fmla="*/ 604711 w 3182692"/>
              <a:gd name="csY1" fmla="*/ 0 h 18288"/>
              <a:gd name="csX2" fmla="*/ 1241250 w 3182692"/>
              <a:gd name="csY2" fmla="*/ 0 h 18288"/>
              <a:gd name="csX3" fmla="*/ 1909615 w 3182692"/>
              <a:gd name="csY3" fmla="*/ 0 h 18288"/>
              <a:gd name="csX4" fmla="*/ 2577981 w 3182692"/>
              <a:gd name="csY4" fmla="*/ 0 h 18288"/>
              <a:gd name="csX5" fmla="*/ 3182692 w 3182692"/>
              <a:gd name="csY5" fmla="*/ 0 h 18288"/>
              <a:gd name="csX6" fmla="*/ 3182692 w 3182692"/>
              <a:gd name="csY6" fmla="*/ 18288 h 18288"/>
              <a:gd name="csX7" fmla="*/ 2482500 w 3182692"/>
              <a:gd name="csY7" fmla="*/ 18288 h 18288"/>
              <a:gd name="csX8" fmla="*/ 1782308 w 3182692"/>
              <a:gd name="csY8" fmla="*/ 18288 h 18288"/>
              <a:gd name="csX9" fmla="*/ 1145769 w 3182692"/>
              <a:gd name="csY9" fmla="*/ 18288 h 18288"/>
              <a:gd name="csX10" fmla="*/ 0 w 3182692"/>
              <a:gd name="csY10" fmla="*/ 18288 h 18288"/>
              <a:gd name="csX11" fmla="*/ 0 w 3182692"/>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people standing next to a notebook&#10;&#10;AI-generated content may be incorrect.">
            <a:extLst>
              <a:ext uri="{FF2B5EF4-FFF2-40B4-BE49-F238E27FC236}">
                <a16:creationId xmlns:a16="http://schemas.microsoft.com/office/drawing/2014/main" id="{F8D855B8-07D8-6074-3A13-F739AA17EF70}"/>
              </a:ext>
            </a:extLst>
          </p:cNvPr>
          <p:cNvPicPr>
            <a:picLocks noChangeAspect="1"/>
          </p:cNvPicPr>
          <p:nvPr/>
        </p:nvPicPr>
        <p:blipFill>
          <a:blip r:embed="rId2"/>
          <a:stretch>
            <a:fillRect/>
          </a:stretch>
        </p:blipFill>
        <p:spPr>
          <a:xfrm>
            <a:off x="954644" y="3067050"/>
            <a:ext cx="7232424" cy="30195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en placed on top of a signature line">
            <a:extLst>
              <a:ext uri="{FF2B5EF4-FFF2-40B4-BE49-F238E27FC236}">
                <a16:creationId xmlns:a16="http://schemas.microsoft.com/office/drawing/2014/main" id="{63EB9F77-842D-A9CF-C269-5EF3FAAF5F63}"/>
              </a:ext>
            </a:extLst>
          </p:cNvPr>
          <p:cNvPicPr>
            <a:picLocks noChangeAspect="1"/>
          </p:cNvPicPr>
          <p:nvPr/>
        </p:nvPicPr>
        <p:blipFill>
          <a:blip r:embed="rId2"/>
          <a:srcRect l="11389" r="-2" b="-2"/>
          <a:stretch>
            <a:fillRect/>
          </a:stretch>
        </p:blipFill>
        <p:spPr>
          <a:xfrm>
            <a:off x="-2585" y="-1"/>
            <a:ext cx="9146585"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64451" y="791834"/>
            <a:ext cx="3020876" cy="9154947"/>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4" y="0"/>
            <a:ext cx="2132551"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9028" y="21736"/>
            <a:ext cx="2364646"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5" y="5288433"/>
            <a:ext cx="9149779"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5100" y="2905286"/>
            <a:ext cx="3866773" cy="4082144"/>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4271" y="87016"/>
            <a:ext cx="5945838" cy="1620665"/>
          </a:xfrm>
        </p:spPr>
        <p:txBody>
          <a:bodyPr vert="horz" lIns="91440" tIns="45720" rIns="91440" bIns="45720" rtlCol="0" anchor="b">
            <a:normAutofit/>
          </a:bodyPr>
          <a:lstStyle/>
          <a:p>
            <a:pPr algn="l" defTabSz="914400">
              <a:lnSpc>
                <a:spcPct val="90000"/>
              </a:lnSpc>
            </a:pPr>
            <a:r>
              <a:rPr lang="en-US" sz="6600" b="1">
                <a:solidFill>
                  <a:srgbClr val="000000"/>
                </a:solidFill>
              </a:rPr>
              <a:t>Conclusion</a:t>
            </a:r>
          </a:p>
        </p:txBody>
      </p:sp>
      <p:sp>
        <p:nvSpPr>
          <p:cNvPr id="3" name="Content Placeholder 2"/>
          <p:cNvSpPr>
            <a:spLocks noGrp="1"/>
          </p:cNvSpPr>
          <p:nvPr>
            <p:ph idx="1"/>
          </p:nvPr>
        </p:nvSpPr>
        <p:spPr>
          <a:xfrm>
            <a:off x="823295" y="1950819"/>
            <a:ext cx="7939821" cy="2160839"/>
          </a:xfrm>
          <a:solidFill>
            <a:schemeClr val="bg1">
              <a:lumMod val="85000"/>
            </a:schemeClr>
          </a:solidFill>
        </p:spPr>
        <p:txBody>
          <a:bodyPr vert="horz" lIns="91440" tIns="45720" rIns="91440" bIns="45720" rtlCol="0" anchor="t">
            <a:noAutofit/>
          </a:bodyPr>
          <a:lstStyle/>
          <a:p>
            <a:pPr marL="0" indent="0" defTabSz="914400">
              <a:lnSpc>
                <a:spcPct val="90000"/>
              </a:lnSpc>
              <a:spcBef>
                <a:spcPts val="1000"/>
              </a:spcBef>
              <a:buNone/>
            </a:pPr>
            <a:r>
              <a:rPr lang="en-US" sz="4400"/>
              <a:t>Effective assessment supports continuous learning, not just final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Case Analysis: Maddison</vt:lpstr>
      <vt:lpstr>Overarching Problem</vt:lpstr>
      <vt:lpstr>PowerPoint Presentation</vt:lpstr>
      <vt:lpstr>Key Issues</vt:lpstr>
      <vt:lpstr>Goal for Improvement</vt:lpstr>
      <vt:lpstr>PowerPoint Presentation</vt:lpstr>
      <vt:lpstr>Recommendation 1: Feedback</vt:lpstr>
      <vt:lpstr>Recommendation 2: Revision</vt:lpstr>
      <vt:lpstr>Recommendation 3: Process-Based Assessment</vt:lpstr>
      <vt:lpstr>Recommendation 4: Student Involvement</vt:lpstr>
      <vt:lpstr>Recommendation 5: Alignment</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120</cp:revision>
  <dcterms:created xsi:type="dcterms:W3CDTF">2013-01-27T09:14:16Z</dcterms:created>
  <dcterms:modified xsi:type="dcterms:W3CDTF">2026-05-02T10:10:15Z</dcterms:modified>
  <cp:category/>
</cp:coreProperties>
</file>